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60" r:id="rId3"/>
  </p:sldMasterIdLst>
  <p:notesMasterIdLst>
    <p:notesMasterId r:id="rId9"/>
  </p:notesMasterIdLst>
  <p:sldIdLst>
    <p:sldId id="256" r:id="rId4"/>
    <p:sldId id="260" r:id="rId5"/>
    <p:sldId id="258" r:id="rId6"/>
    <p:sldId id="259" r:id="rId7"/>
    <p:sldId id="257" r:id="rId8"/>
    <p:sldId id="261" r:id="rId10"/>
    <p:sldId id="262" r:id="rId11"/>
    <p:sldId id="263" r:id="rId12"/>
    <p:sldId id="264" r:id="rId13"/>
    <p:sldId id="265" r:id="rId14"/>
    <p:sldId id="270" r:id="rId15"/>
    <p:sldId id="271" r:id="rId16"/>
    <p:sldId id="272" r:id="rId17"/>
    <p:sldId id="274" r:id="rId18"/>
    <p:sldId id="276" r:id="rId19"/>
    <p:sldId id="275" r:id="rId20"/>
    <p:sldId id="277" r:id="rId21"/>
    <p:sldId id="278" r:id="rId22"/>
    <p:sldId id="280" r:id="rId23"/>
    <p:sldId id="281" r:id="rId24"/>
    <p:sldId id="282" r:id="rId25"/>
    <p:sldId id="266" r:id="rId26"/>
    <p:sldId id="287" r:id="rId27"/>
    <p:sldId id="288" r:id="rId28"/>
    <p:sldId id="294" r:id="rId29"/>
    <p:sldId id="289" r:id="rId30"/>
    <p:sldId id="290" r:id="rId31"/>
    <p:sldId id="291" r:id="rId32"/>
    <p:sldId id="292" r:id="rId33"/>
    <p:sldId id="293" r:id="rId34"/>
    <p:sldId id="267" r:id="rId35"/>
    <p:sldId id="295" r:id="rId36"/>
    <p:sldId id="296" r:id="rId37"/>
    <p:sldId id="297" r:id="rId38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AB4"/>
    <a:srgbClr val="8DBBD7"/>
    <a:srgbClr val="4693BE"/>
    <a:srgbClr val="4995BF"/>
    <a:srgbClr val="3D86B0"/>
    <a:srgbClr val="B0D0E2"/>
    <a:srgbClr val="589DC4"/>
    <a:srgbClr val="2B759D"/>
    <a:srgbClr val="FEFFFF"/>
    <a:srgbClr val="3D8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41" autoAdjust="0"/>
  </p:normalViewPr>
  <p:slideViewPr>
    <p:cSldViewPr snapToGrid="0">
      <p:cViewPr varScale="1">
        <p:scale>
          <a:sx n="47" d="100"/>
          <a:sy n="47" d="100"/>
        </p:scale>
        <p:origin x="1027" y="2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19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CF9D9-B110-4A41-9F77-D41815912D3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50F2E-0D92-4528-950B-F193183BB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50F2E-0D92-4528-950B-F193183BBB2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50F2E-0D92-4528-950B-F193183BBB2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FD873-9AA4-4DDD-943B-95E217DFF3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F7180-226A-4DC6-99CA-1C004075B1A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tags" Target="../tags/tag2.xml"/><Relationship Id="rId19" Type="http://schemas.openxmlformats.org/officeDocument/2006/relationships/image" Target="../media/image19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7.svg"/><Relationship Id="rId15" Type="http://schemas.openxmlformats.org/officeDocument/2006/relationships/image" Target="../media/image36.png"/><Relationship Id="rId14" Type="http://schemas.openxmlformats.org/officeDocument/2006/relationships/image" Target="../media/image35.svg"/><Relationship Id="rId13" Type="http://schemas.openxmlformats.org/officeDocument/2006/relationships/image" Target="../media/image34.png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image" Target="../media/image31.sv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165600" y="579120"/>
            <a:ext cx="3728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نظام إدارة مطعم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4405" y="5608940"/>
            <a:ext cx="3013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+mj-cs"/>
              </a:rPr>
              <a:t>العام الدراسي 2024-2025</a:t>
            </a:r>
            <a:endParaRPr lang="en-US" sz="2400" dirty="0">
              <a:solidFill>
                <a:schemeClr val="bg1"/>
              </a:solidFill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" y="-1127760"/>
            <a:ext cx="9113520" cy="911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2929" y="946776"/>
            <a:ext cx="5476240" cy="290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cs typeface="+mj-cs"/>
              </a:rPr>
              <a:t>مقدمة</a:t>
            </a:r>
            <a:r>
              <a:rPr lang="ar-SY" sz="2400" b="1" dirty="0">
                <a:solidFill>
                  <a:schemeClr val="bg1"/>
                </a:solidFill>
                <a:cs typeface="+mj-cs"/>
              </a:rPr>
              <a:t> :</a:t>
            </a:r>
            <a:endParaRPr lang="en-US" sz="2400" b="1" dirty="0">
              <a:solidFill>
                <a:schemeClr val="bg1"/>
              </a:solidFill>
              <a:cs typeface="+mj-cs"/>
            </a:endParaRPr>
          </a:p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cs typeface="+mj-cs"/>
              </a:rPr>
              <a:t>مع تطور التكنواوجيا أصبحت التطبيقات الذكية أساسية في</a:t>
            </a:r>
            <a:br>
              <a:rPr lang="en-US" sz="2000" dirty="0">
                <a:solidFill>
                  <a:schemeClr val="bg1"/>
                </a:solidFill>
                <a:cs typeface="+mj-cs"/>
              </a:rPr>
            </a:br>
            <a:r>
              <a:rPr lang="en-US" sz="2000" dirty="0">
                <a:solidFill>
                  <a:schemeClr val="bg1"/>
                </a:solidFill>
                <a:cs typeface="+mj-cs"/>
              </a:rPr>
              <a:t> حياتنا اليومية خاصة في مجالات مثل الطعام و التوصيل </a:t>
            </a:r>
            <a:endParaRPr lang="en-US" sz="2000" dirty="0">
              <a:solidFill>
                <a:schemeClr val="bg1"/>
              </a:solidFill>
              <a:cs typeface="+mj-cs"/>
            </a:endParaRPr>
          </a:p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cs typeface="+mj-cs"/>
              </a:rPr>
              <a:t>و من هنا استوحينا فكرة نطبيقنا و الذي يقوم على تسهيل إدارة المطاعم من الطلبات إلى الحجوزات و من ثم التوصيل لتلبية احتياجات الزبائن بسرعة و </a:t>
            </a:r>
            <a:r>
              <a:rPr lang="en-US" sz="2000" dirty="0" err="1">
                <a:solidFill>
                  <a:schemeClr val="bg1"/>
                </a:solidFill>
                <a:cs typeface="+mj-cs"/>
              </a:rPr>
              <a:t>كفاءة</a:t>
            </a:r>
            <a:r>
              <a:rPr lang="en-US" sz="2000" dirty="0">
                <a:solidFill>
                  <a:schemeClr val="bg1"/>
                </a:solidFill>
                <a:cs typeface="+mj-cs"/>
              </a:rPr>
              <a:t> </a:t>
            </a:r>
            <a:endParaRPr lang="en-US" sz="2000" dirty="0">
              <a:solidFill>
                <a:schemeClr val="bg1"/>
              </a:solidFill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0" y="956608"/>
            <a:ext cx="5476240" cy="4418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2400" dirty="0">
                <a:solidFill>
                  <a:schemeClr val="bg1"/>
                </a:solidFill>
                <a:cs typeface="+mj-cs"/>
              </a:rPr>
              <a:t>:محتويات العرض</a:t>
            </a:r>
            <a:endParaRPr lang="en-US" sz="2400" dirty="0">
              <a:solidFill>
                <a:schemeClr val="bg1"/>
              </a:solidFill>
              <a:cs typeface="+mj-cs"/>
            </a:endParaRP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cs typeface="+mj-cs"/>
              </a:rPr>
              <a:t>الدراسة المرجعية </a:t>
            </a:r>
            <a:endParaRPr lang="en-US" sz="2400" dirty="0">
              <a:solidFill>
                <a:schemeClr val="bg1"/>
              </a:solidFill>
              <a:cs typeface="+mj-cs"/>
            </a:endParaRP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cs typeface="+mj-cs"/>
              </a:rPr>
              <a:t>المتطلبات الوظيفية </a:t>
            </a:r>
            <a:endParaRPr lang="en-US" sz="2400" dirty="0">
              <a:solidFill>
                <a:schemeClr val="bg1"/>
              </a:solidFill>
              <a:cs typeface="+mj-cs"/>
            </a:endParaRP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cs typeface="+mj-cs"/>
              </a:rPr>
              <a:t>المتطلبات الغير وظيفية </a:t>
            </a:r>
            <a:endParaRPr lang="en-US" sz="2400" dirty="0">
              <a:solidFill>
                <a:schemeClr val="bg1"/>
              </a:solidFill>
              <a:cs typeface="+mj-cs"/>
            </a:endParaRP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cs typeface="+mj-cs"/>
              </a:rPr>
              <a:t>مخططات </a:t>
            </a:r>
            <a:endParaRPr lang="en-US" sz="2400" dirty="0">
              <a:solidFill>
                <a:schemeClr val="bg1"/>
              </a:solidFill>
              <a:cs typeface="+mj-cs"/>
            </a:endParaRP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cs typeface="+mj-cs"/>
              </a:rPr>
              <a:t>خاتمة </a:t>
            </a:r>
            <a:endParaRPr lang="en-US" sz="2000" dirty="0">
              <a:solidFill>
                <a:schemeClr val="bg1"/>
              </a:solidFill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204125" y="1651092"/>
            <a:ext cx="2467290" cy="4734962"/>
            <a:chOff x="1204125" y="1495625"/>
            <a:chExt cx="2467290" cy="4734962"/>
          </a:xfrm>
        </p:grpSpPr>
        <p:sp>
          <p:nvSpPr>
            <p:cNvPr id="34" name="Rectangle: Rounded Corners 33"/>
            <p:cNvSpPr/>
            <p:nvPr/>
          </p:nvSpPr>
          <p:spPr>
            <a:xfrm>
              <a:off x="120412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52339F"/>
                </a:gs>
                <a:gs pos="100000">
                  <a:srgbClr val="6AFB9B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Pentagon 34"/>
            <p:cNvSpPr/>
            <p:nvPr/>
          </p:nvSpPr>
          <p:spPr>
            <a:xfrm>
              <a:off x="175784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52339F"/>
                </a:gs>
                <a:gs pos="100000">
                  <a:srgbClr val="6AFB9B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671415" y="1651092"/>
            <a:ext cx="2467290" cy="4734962"/>
            <a:chOff x="3671415" y="1495625"/>
            <a:chExt cx="2467290" cy="4734962"/>
          </a:xfrm>
        </p:grpSpPr>
        <p:sp>
          <p:nvSpPr>
            <p:cNvPr id="32" name="Rectangle: Rounded Corners 31"/>
            <p:cNvSpPr/>
            <p:nvPr/>
          </p:nvSpPr>
          <p:spPr>
            <a:xfrm>
              <a:off x="367141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579BFF"/>
                </a:gs>
                <a:gs pos="100000">
                  <a:srgbClr val="FF0066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Pentagon 32"/>
            <p:cNvSpPr/>
            <p:nvPr/>
          </p:nvSpPr>
          <p:spPr>
            <a:xfrm>
              <a:off x="422513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579BFF"/>
                </a:gs>
                <a:gs pos="100000">
                  <a:srgbClr val="FF0066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138705" y="1651092"/>
            <a:ext cx="2467290" cy="4734962"/>
            <a:chOff x="6138705" y="1495625"/>
            <a:chExt cx="2467290" cy="4734962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613870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47BFC5"/>
                </a:gs>
                <a:gs pos="100000">
                  <a:srgbClr val="CC6DCA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Pentagon 30"/>
            <p:cNvSpPr/>
            <p:nvPr/>
          </p:nvSpPr>
          <p:spPr>
            <a:xfrm>
              <a:off x="669242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47BFC5"/>
                </a:gs>
                <a:gs pos="100000">
                  <a:srgbClr val="CC6DCA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605995" y="1651092"/>
            <a:ext cx="2467290" cy="4734962"/>
            <a:chOff x="8605995" y="1495625"/>
            <a:chExt cx="2467290" cy="4734962"/>
          </a:xfrm>
        </p:grpSpPr>
        <p:sp>
          <p:nvSpPr>
            <p:cNvPr id="28" name="Rectangle: Rounded Corners 27"/>
            <p:cNvSpPr/>
            <p:nvPr/>
          </p:nvSpPr>
          <p:spPr>
            <a:xfrm>
              <a:off x="860599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8A73D6"/>
                </a:gs>
                <a:gs pos="100000">
                  <a:srgbClr val="2FBFE1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Pentagon 28"/>
            <p:cNvSpPr/>
            <p:nvPr/>
          </p:nvSpPr>
          <p:spPr>
            <a:xfrm>
              <a:off x="915971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8A73D6"/>
                </a:gs>
                <a:gs pos="100000">
                  <a:srgbClr val="2FBFE1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extBox 70"/>
          <p:cNvSpPr txBox="1"/>
          <p:nvPr/>
        </p:nvSpPr>
        <p:spPr>
          <a:xfrm>
            <a:off x="669076" y="471946"/>
            <a:ext cx="10853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الدراسة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المرجعية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4" name="TextBox 73"/>
          <p:cNvSpPr txBox="1"/>
          <p:nvPr/>
        </p:nvSpPr>
        <p:spPr>
          <a:xfrm>
            <a:off x="1602478" y="3982204"/>
            <a:ext cx="1690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5" name="TextBox 75"/>
          <p:cNvSpPr txBox="1"/>
          <p:nvPr/>
        </p:nvSpPr>
        <p:spPr>
          <a:xfrm>
            <a:off x="3691086" y="4015777"/>
            <a:ext cx="2314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6" name="TextBox 77"/>
          <p:cNvSpPr txBox="1"/>
          <p:nvPr/>
        </p:nvSpPr>
        <p:spPr>
          <a:xfrm>
            <a:off x="6326853" y="4015777"/>
            <a:ext cx="2087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7" name="TextBox 79"/>
          <p:cNvSpPr txBox="1"/>
          <p:nvPr/>
        </p:nvSpPr>
        <p:spPr>
          <a:xfrm>
            <a:off x="9171831" y="3982204"/>
            <a:ext cx="1335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487" y="2246518"/>
            <a:ext cx="2149717" cy="208483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934850" y="2729766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4402140" y="2729766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898620" y="2729766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 flipH="1">
            <a:off x="1204125" y="1651092"/>
            <a:ext cx="2467290" cy="4734962"/>
            <a:chOff x="1204125" y="1495625"/>
            <a:chExt cx="2467290" cy="4734962"/>
          </a:xfrm>
        </p:grpSpPr>
        <p:sp>
          <p:nvSpPr>
            <p:cNvPr id="54" name="Rectangle: Rounded Corners 53"/>
            <p:cNvSpPr/>
            <p:nvPr/>
          </p:nvSpPr>
          <p:spPr>
            <a:xfrm>
              <a:off x="120412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52339F"/>
                </a:gs>
                <a:gs pos="100000">
                  <a:srgbClr val="6AFB9B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Pentagon 54"/>
            <p:cNvSpPr/>
            <p:nvPr/>
          </p:nvSpPr>
          <p:spPr>
            <a:xfrm>
              <a:off x="175784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52339F"/>
                </a:gs>
                <a:gs pos="100000">
                  <a:srgbClr val="6AFB9B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8" name="TextBox 61"/>
          <p:cNvSpPr txBox="1"/>
          <p:nvPr/>
        </p:nvSpPr>
        <p:spPr>
          <a:xfrm>
            <a:off x="1177726" y="4511015"/>
            <a:ext cx="25527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2000" dirty="0">
                <a:solidFill>
                  <a:schemeClr val="bg1"/>
                </a:solidFill>
              </a:rPr>
              <a:t>هو أداة محورية في إدارة المطاعم يستخدم لتسجيل الطلبات بسرعة ومتابعتها بدقة وسرعة </a:t>
            </a:r>
            <a:endParaRPr lang="en-US" altLang="en-GB" sz="2000" dirty="0">
              <a:solidFill>
                <a:schemeClr val="bg1"/>
              </a:solidFill>
            </a:endParaRPr>
          </a:p>
        </p:txBody>
      </p:sp>
      <p:sp>
        <p:nvSpPr>
          <p:cNvPr id="49" name="TextBox 70"/>
          <p:cNvSpPr txBox="1"/>
          <p:nvPr/>
        </p:nvSpPr>
        <p:spPr>
          <a:xfrm>
            <a:off x="669076" y="471946"/>
            <a:ext cx="10853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الدراسة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المرجعية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0" name="TextBox 73"/>
          <p:cNvSpPr txBox="1"/>
          <p:nvPr/>
        </p:nvSpPr>
        <p:spPr>
          <a:xfrm>
            <a:off x="1602478" y="3982204"/>
            <a:ext cx="1690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TextBox 75"/>
          <p:cNvSpPr txBox="1"/>
          <p:nvPr/>
        </p:nvSpPr>
        <p:spPr>
          <a:xfrm rot="5400000">
            <a:off x="3691086" y="4015777"/>
            <a:ext cx="2314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2" name="TextBox 77"/>
          <p:cNvSpPr txBox="1"/>
          <p:nvPr/>
        </p:nvSpPr>
        <p:spPr>
          <a:xfrm rot="5400000">
            <a:off x="6326853" y="4015777"/>
            <a:ext cx="2087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3" name="TextBox 79"/>
          <p:cNvSpPr txBox="1"/>
          <p:nvPr/>
        </p:nvSpPr>
        <p:spPr>
          <a:xfrm rot="5400000">
            <a:off x="9171831" y="3982204"/>
            <a:ext cx="1335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934850" y="2729766"/>
            <a:ext cx="1005840" cy="1005840"/>
          </a:xfrm>
          <a:prstGeom prst="ellipse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671415" y="1651092"/>
            <a:ext cx="2467290" cy="4734962"/>
            <a:chOff x="3671415" y="1495625"/>
            <a:chExt cx="2467290" cy="4734962"/>
          </a:xfrm>
        </p:grpSpPr>
        <p:sp>
          <p:nvSpPr>
            <p:cNvPr id="20" name="Rectangle: Rounded Corners 19"/>
            <p:cNvSpPr/>
            <p:nvPr/>
          </p:nvSpPr>
          <p:spPr>
            <a:xfrm>
              <a:off x="367141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579BFF"/>
                </a:gs>
                <a:gs pos="100000">
                  <a:srgbClr val="FF0066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Pentagon 20"/>
            <p:cNvSpPr/>
            <p:nvPr/>
          </p:nvSpPr>
          <p:spPr>
            <a:xfrm>
              <a:off x="422513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579BFF"/>
                </a:gs>
                <a:gs pos="100000">
                  <a:srgbClr val="FF0066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TextBox 62"/>
          <p:cNvSpPr txBox="1"/>
          <p:nvPr/>
        </p:nvSpPr>
        <p:spPr>
          <a:xfrm>
            <a:off x="3730426" y="4511015"/>
            <a:ext cx="2427949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chemeClr val="bg1"/>
                </a:solidFill>
              </a:rPr>
              <a:t>هو نظام نقاط بيع مخصص للمطاعم والمقاهي والمتاجر الصغيرة يهدف إلى تبسيط عمليات الإدارة والبيع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70"/>
          <p:cNvSpPr txBox="1"/>
          <p:nvPr/>
        </p:nvSpPr>
        <p:spPr>
          <a:xfrm>
            <a:off x="669076" y="471946"/>
            <a:ext cx="10853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الدراسة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المرجعية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73"/>
          <p:cNvSpPr txBox="1"/>
          <p:nvPr/>
        </p:nvSpPr>
        <p:spPr>
          <a:xfrm rot="5400000">
            <a:off x="1602478" y="3982204"/>
            <a:ext cx="1690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7" name="TextBox 75"/>
          <p:cNvSpPr txBox="1"/>
          <p:nvPr/>
        </p:nvSpPr>
        <p:spPr>
          <a:xfrm>
            <a:off x="3691086" y="4015777"/>
            <a:ext cx="2314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TextBox 77"/>
          <p:cNvSpPr txBox="1"/>
          <p:nvPr/>
        </p:nvSpPr>
        <p:spPr>
          <a:xfrm rot="5400000">
            <a:off x="6326853" y="4015777"/>
            <a:ext cx="2087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9" name="TextBox 79"/>
          <p:cNvSpPr txBox="1"/>
          <p:nvPr/>
        </p:nvSpPr>
        <p:spPr>
          <a:xfrm rot="5400000">
            <a:off x="9171831" y="3982204"/>
            <a:ext cx="1335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402140" y="2729766"/>
            <a:ext cx="1005840" cy="1005840"/>
          </a:xfrm>
          <a:prstGeom prst="ellipse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 flipH="1">
            <a:off x="6138705" y="1651092"/>
            <a:ext cx="2467290" cy="4734962"/>
            <a:chOff x="6138705" y="1495625"/>
            <a:chExt cx="2467290" cy="4734962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613870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47BFC5"/>
                </a:gs>
                <a:gs pos="100000">
                  <a:srgbClr val="CC6DCA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Pentagon 30"/>
            <p:cNvSpPr/>
            <p:nvPr/>
          </p:nvSpPr>
          <p:spPr>
            <a:xfrm>
              <a:off x="669242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47BFC5"/>
                </a:gs>
                <a:gs pos="100000">
                  <a:srgbClr val="CC6DCA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4" name="TextBox 63"/>
          <p:cNvSpPr txBox="1"/>
          <p:nvPr/>
        </p:nvSpPr>
        <p:spPr>
          <a:xfrm>
            <a:off x="6267927" y="4505424"/>
            <a:ext cx="2241813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chemeClr val="bg1"/>
                </a:solidFill>
              </a:rPr>
              <a:t>يعد حلا ذكيا لإدارة المطاعم والمقاهي حيث يمكن من متابعة الأداء اليومي بكفاءة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70"/>
          <p:cNvSpPr txBox="1"/>
          <p:nvPr/>
        </p:nvSpPr>
        <p:spPr>
          <a:xfrm>
            <a:off x="669076" y="471946"/>
            <a:ext cx="10853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الدراسة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المرجعية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6" name="TextBox 73"/>
          <p:cNvSpPr txBox="1"/>
          <p:nvPr/>
        </p:nvSpPr>
        <p:spPr>
          <a:xfrm rot="5400000">
            <a:off x="1602478" y="3982204"/>
            <a:ext cx="1690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7" name="TextBox 75"/>
          <p:cNvSpPr txBox="1"/>
          <p:nvPr/>
        </p:nvSpPr>
        <p:spPr>
          <a:xfrm rot="5400000">
            <a:off x="3691086" y="4015777"/>
            <a:ext cx="2314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8" name="TextBox 77"/>
          <p:cNvSpPr txBox="1"/>
          <p:nvPr/>
        </p:nvSpPr>
        <p:spPr>
          <a:xfrm>
            <a:off x="6326853" y="4015777"/>
            <a:ext cx="2087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9" name="TextBox 79"/>
          <p:cNvSpPr txBox="1"/>
          <p:nvPr/>
        </p:nvSpPr>
        <p:spPr>
          <a:xfrm rot="5400000">
            <a:off x="9171831" y="3982204"/>
            <a:ext cx="1335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98620" y="2729766"/>
            <a:ext cx="1005840" cy="1005840"/>
          </a:xfrm>
          <a:prstGeom prst="ellipse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605995" y="1651092"/>
            <a:ext cx="2467290" cy="4734962"/>
            <a:chOff x="8605995" y="1495625"/>
            <a:chExt cx="2467290" cy="4734962"/>
          </a:xfrm>
        </p:grpSpPr>
        <p:sp>
          <p:nvSpPr>
            <p:cNvPr id="20" name="Rectangle: Rounded Corners 19"/>
            <p:cNvSpPr/>
            <p:nvPr/>
          </p:nvSpPr>
          <p:spPr>
            <a:xfrm>
              <a:off x="8605995" y="1495625"/>
              <a:ext cx="2467290" cy="4734962"/>
            </a:xfrm>
            <a:prstGeom prst="roundRect">
              <a:avLst>
                <a:gd name="adj" fmla="val 3075"/>
              </a:avLst>
            </a:prstGeom>
            <a:gradFill>
              <a:gsLst>
                <a:gs pos="8000">
                  <a:srgbClr val="8A73D6"/>
                </a:gs>
                <a:gs pos="100000">
                  <a:srgbClr val="2FBFE1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Pentagon 20"/>
            <p:cNvSpPr/>
            <p:nvPr/>
          </p:nvSpPr>
          <p:spPr>
            <a:xfrm>
              <a:off x="9159717" y="2390115"/>
              <a:ext cx="1355259" cy="1290723"/>
            </a:xfrm>
            <a:prstGeom prst="pentagon">
              <a:avLst/>
            </a:prstGeom>
            <a:gradFill>
              <a:gsLst>
                <a:gs pos="8000">
                  <a:srgbClr val="8A73D6"/>
                </a:gs>
                <a:gs pos="100000">
                  <a:srgbClr val="2FBFE1"/>
                </a:gs>
              </a:gsLst>
              <a:lin ang="5400000" scaled="1"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TextBox 60"/>
          <p:cNvSpPr txBox="1"/>
          <p:nvPr/>
        </p:nvSpPr>
        <p:spPr>
          <a:xfrm>
            <a:off x="8718734" y="4505424"/>
            <a:ext cx="2241812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2000" dirty="0">
                <a:solidFill>
                  <a:schemeClr val="bg1"/>
                </a:solidFill>
              </a:rPr>
              <a:t>هو نظام شامل لإدارة المطعم يجمع بين إدارة الموظفين الطلبات الحجوزات والمخزن في منصة واحدة 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70"/>
          <p:cNvSpPr txBox="1"/>
          <p:nvPr/>
        </p:nvSpPr>
        <p:spPr>
          <a:xfrm>
            <a:off x="669076" y="471946"/>
            <a:ext cx="10853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الدراسة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المرجعية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73"/>
          <p:cNvSpPr txBox="1"/>
          <p:nvPr/>
        </p:nvSpPr>
        <p:spPr>
          <a:xfrm rot="5400000">
            <a:off x="1602478" y="3982204"/>
            <a:ext cx="1690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7" name="TextBox 75"/>
          <p:cNvSpPr txBox="1"/>
          <p:nvPr/>
        </p:nvSpPr>
        <p:spPr>
          <a:xfrm rot="5400000">
            <a:off x="3691086" y="4015777"/>
            <a:ext cx="2314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TextBox 77"/>
          <p:cNvSpPr txBox="1"/>
          <p:nvPr/>
        </p:nvSpPr>
        <p:spPr>
          <a:xfrm rot="5400000">
            <a:off x="6326853" y="4015777"/>
            <a:ext cx="2087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9" name="TextBox 79"/>
          <p:cNvSpPr txBox="1"/>
          <p:nvPr/>
        </p:nvSpPr>
        <p:spPr>
          <a:xfrm>
            <a:off x="9171831" y="3982204"/>
            <a:ext cx="1335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487" y="2246518"/>
            <a:ext cx="2149717" cy="20848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Elbow Connector 6"/>
          <p:cNvCxnSpPr>
            <a:stCxn id="5" idx="2"/>
            <a:endCxn id="53" idx="0"/>
          </p:cNvCxnSpPr>
          <p:nvPr/>
        </p:nvCxnSpPr>
        <p:spPr>
          <a:xfrm rot="5400000">
            <a:off x="4346575" y="2310765"/>
            <a:ext cx="2061210" cy="143700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5" idx="2"/>
            <a:endCxn id="11" idx="0"/>
          </p:cNvCxnSpPr>
          <p:nvPr/>
        </p:nvCxnSpPr>
        <p:spPr>
          <a:xfrm rot="5400000" flipV="1">
            <a:off x="7201535" y="892810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418965" y="1570990"/>
            <a:ext cx="3674745" cy="457200"/>
            <a:chOff x="6959" y="2474"/>
            <a:chExt cx="5787" cy="720"/>
          </a:xfrm>
        </p:grpSpPr>
        <p:sp>
          <p:nvSpPr>
            <p:cNvPr id="5" name="Text Box 4"/>
            <p:cNvSpPr txBox="1"/>
            <p:nvPr/>
          </p:nvSpPr>
          <p:spPr>
            <a:xfrm>
              <a:off x="6959" y="2520"/>
              <a:ext cx="5282" cy="62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en-GB" sz="2000" u="sng" dirty="0">
                  <a:solidFill>
                    <a:schemeClr val="bg1"/>
                  </a:solidFill>
                </a:rPr>
                <a:t>Log in &amp; Logout &amp; Register</a:t>
              </a:r>
              <a:endParaRPr lang="en-US" altLang="en-GB" sz="2000" u="sng" dirty="0">
                <a:solidFill>
                  <a:schemeClr val="bg1"/>
                </a:solidFill>
              </a:endParaRPr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26" y="2474"/>
              <a:ext cx="720" cy="72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Order Management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cxnSp>
        <p:nvCxnSpPr>
          <p:cNvPr id="8" name="Elbow Connector 7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5" idx="2"/>
            <a:endCxn id="11" idx="0"/>
          </p:cNvCxnSpPr>
          <p:nvPr/>
        </p:nvCxnSpPr>
        <p:spPr>
          <a:xfrm rot="5400000" flipV="1">
            <a:off x="7201535" y="892810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132" y="16002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altLang="en-US" sz="2000" u="sng" dirty="0">
                <a:solidFill>
                  <a:schemeClr val="bg1"/>
                </a:solidFill>
              </a:rPr>
              <a:t>Staff </a:t>
            </a:r>
            <a:r>
              <a:rPr lang="en-US" altLang="en-GB" sz="2000" u="sng" dirty="0">
                <a:solidFill>
                  <a:schemeClr val="bg1"/>
                </a:solidFill>
              </a:rPr>
              <a:t>Management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50198" y="802958"/>
            <a:ext cx="2017395" cy="449707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5" idx="2"/>
            <a:endCxn id="53" idx="0"/>
          </p:cNvCxnSpPr>
          <p:nvPr/>
        </p:nvCxnSpPr>
        <p:spPr>
          <a:xfrm rot="5400000">
            <a:off x="4374515" y="2327275"/>
            <a:ext cx="2017395" cy="1448435"/>
          </a:xfrm>
          <a:prstGeom prst="bentConnector3">
            <a:avLst>
              <a:gd name="adj1" fmla="val 50016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5" idx="2"/>
            <a:endCxn id="11" idx="0"/>
          </p:cNvCxnSpPr>
          <p:nvPr/>
        </p:nvCxnSpPr>
        <p:spPr>
          <a:xfrm rot="5400000" flipV="1">
            <a:off x="7229475" y="920750"/>
            <a:ext cx="2017395" cy="4261485"/>
          </a:xfrm>
          <a:prstGeom prst="bentConnector3">
            <a:avLst>
              <a:gd name="adj1" fmla="val 50016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180" y="1612187"/>
            <a:ext cx="455365" cy="377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Inventory Management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cxnSp>
        <p:nvCxnSpPr>
          <p:cNvPr id="8" name="Elbow Connector 7"/>
          <p:cNvCxnSpPr>
            <a:stCxn id="5" idx="2"/>
            <a:endCxn id="53" idx="0"/>
          </p:cNvCxnSpPr>
          <p:nvPr/>
        </p:nvCxnSpPr>
        <p:spPr>
          <a:xfrm rot="5400000">
            <a:off x="4346575" y="2310765"/>
            <a:ext cx="2061210" cy="143700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Elbow Connector 2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5400000" flipV="1">
            <a:off x="7201535" y="892810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821" y="1541145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Menu  Management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cxnSp>
        <p:nvCxnSpPr>
          <p:cNvPr id="8" name="Elbow Connector 7"/>
          <p:cNvCxnSpPr>
            <a:stCxn id="5" idx="2"/>
            <a:endCxn id="53" idx="0"/>
          </p:cNvCxnSpPr>
          <p:nvPr/>
        </p:nvCxnSpPr>
        <p:spPr>
          <a:xfrm rot="5400000">
            <a:off x="4346575" y="2310765"/>
            <a:ext cx="2061210" cy="143700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Elbow Connector 2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Elbow Connector 3"/>
          <p:cNvCxnSpPr/>
          <p:nvPr/>
        </p:nvCxnSpPr>
        <p:spPr>
          <a:xfrm rot="5400000" flipV="1">
            <a:off x="7201535" y="892810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743" y="1614487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38100" cap="flat" cmpd="sng" algn="ctr">
            <a:solidFill>
              <a:schemeClr val="bg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Languages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cxnSp>
        <p:nvCxnSpPr>
          <p:cNvPr id="8" name="Elbow Connector 7"/>
          <p:cNvCxnSpPr>
            <a:stCxn id="5" idx="2"/>
            <a:endCxn id="53" idx="0"/>
          </p:cNvCxnSpPr>
          <p:nvPr/>
        </p:nvCxnSpPr>
        <p:spPr>
          <a:xfrm rot="5400000">
            <a:off x="4346575" y="2310765"/>
            <a:ext cx="2061210" cy="1437005"/>
          </a:xfrm>
          <a:prstGeom prst="bentConnector3">
            <a:avLst>
              <a:gd name="adj1" fmla="val 49985"/>
            </a:avLst>
          </a:prstGeom>
          <a:ln w="38100" cap="flat" cmpd="sng" algn="ctr">
            <a:solidFill>
              <a:schemeClr val="bg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Elbow Connector 2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38100" cap="flat" cmpd="sng" algn="ctr">
            <a:solidFill>
              <a:schemeClr val="bg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Elbow Connector 3"/>
          <p:cNvCxnSpPr/>
          <p:nvPr/>
        </p:nvCxnSpPr>
        <p:spPr>
          <a:xfrm rot="5400000" flipV="1">
            <a:off x="7201535" y="892810"/>
            <a:ext cx="2061210" cy="4272915"/>
          </a:xfrm>
          <a:prstGeom prst="bentConnector3">
            <a:avLst>
              <a:gd name="adj1" fmla="val 49985"/>
            </a:avLst>
          </a:prstGeom>
          <a:ln w="38100" cap="flat" cmpd="sng" algn="ctr">
            <a:solidFill>
              <a:schemeClr val="bg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980" y="1570831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جدول</a:t>
            </a:r>
            <a:r>
              <a:rPr lang="en-US" sz="2800" b="1" dirty="0">
                <a:solidFill>
                  <a:schemeClr val="bg1"/>
                </a:solidFill>
              </a:rPr>
              <a:t>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Notifications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cxnSp>
        <p:nvCxnSpPr>
          <p:cNvPr id="8" name="Elbow Connector 7"/>
          <p:cNvCxnSpPr>
            <a:stCxn id="5" idx="2"/>
            <a:endCxn id="53" idx="0"/>
          </p:cNvCxnSpPr>
          <p:nvPr/>
        </p:nvCxnSpPr>
        <p:spPr>
          <a:xfrm rot="5400000">
            <a:off x="4346893" y="2311083"/>
            <a:ext cx="2061210" cy="143700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Elbow Connector 2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Elbow Connector 3"/>
          <p:cNvCxnSpPr/>
          <p:nvPr/>
        </p:nvCxnSpPr>
        <p:spPr>
          <a:xfrm rot="5400000" flipV="1">
            <a:off x="7201853" y="893128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708" y="1621155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Elbow Connector 2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cxnSp>
        <p:nvCxnSpPr>
          <p:cNvPr id="2" name="Elbow Connector 1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Analytics &amp; Reporting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cxnSp>
        <p:nvCxnSpPr>
          <p:cNvPr id="8" name="Elbow Connector 7"/>
          <p:cNvCxnSpPr>
            <a:stCxn id="5" idx="2"/>
            <a:endCxn id="53" idx="0"/>
          </p:cNvCxnSpPr>
          <p:nvPr/>
        </p:nvCxnSpPr>
        <p:spPr>
          <a:xfrm rot="5400000">
            <a:off x="4346893" y="2311083"/>
            <a:ext cx="2061210" cy="143700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Elbow Connector 3"/>
          <p:cNvCxnSpPr/>
          <p:nvPr/>
        </p:nvCxnSpPr>
        <p:spPr>
          <a:xfrm rot="5400000" flipV="1">
            <a:off x="7201853" y="893128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275" y="1616710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Elbow Connector 2"/>
          <p:cNvCxnSpPr>
            <a:stCxn id="5" idx="2"/>
            <a:endCxn id="52" idx="0"/>
          </p:cNvCxnSpPr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Reviews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Elbow Connector 3"/>
          <p:cNvCxnSpPr/>
          <p:nvPr/>
        </p:nvCxnSpPr>
        <p:spPr>
          <a:xfrm rot="5400000" flipV="1">
            <a:off x="7201853" y="893128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60" y="1473123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18965" y="1537614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User Interface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Elbow Connector 3"/>
          <p:cNvCxnSpPr>
            <a:stCxn id="5" idx="2"/>
            <a:endCxn id="51" idx="0"/>
          </p:cNvCxnSpPr>
          <p:nvPr/>
        </p:nvCxnSpPr>
        <p:spPr>
          <a:xfrm rot="5400000">
            <a:off x="2791282" y="755472"/>
            <a:ext cx="2123796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580" y="1558569"/>
            <a:ext cx="457200" cy="457200"/>
          </a:xfrm>
          <a:prstGeom prst="rect">
            <a:avLst/>
          </a:prstGeom>
        </p:spPr>
      </p:pic>
      <p:cxnSp>
        <p:nvCxnSpPr>
          <p:cNvPr id="12" name="Elbow Connector 11"/>
          <p:cNvCxnSpPr/>
          <p:nvPr/>
        </p:nvCxnSpPr>
        <p:spPr>
          <a:xfrm rot="5400000">
            <a:off x="4315600" y="2279790"/>
            <a:ext cx="2123796" cy="1437005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16200000" flipH="1">
            <a:off x="5878652" y="2153742"/>
            <a:ext cx="2123796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16200000" flipH="1">
            <a:off x="7170448" y="861946"/>
            <a:ext cx="2123796" cy="4272692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18965" y="1600200"/>
            <a:ext cx="3354070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Reservations &amp; Tables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Elbow Connector 3"/>
          <p:cNvCxnSpPr>
            <a:stCxn id="5" idx="2"/>
            <a:endCxn id="51" idx="0"/>
          </p:cNvCxnSpPr>
          <p:nvPr/>
        </p:nvCxnSpPr>
        <p:spPr>
          <a:xfrm rot="5400000">
            <a:off x="2822575" y="786765"/>
            <a:ext cx="2061210" cy="44856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 rot="5400000" flipV="1">
            <a:off x="7201853" y="893128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349" y="1502093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0D0E2"/>
            </a:gs>
            <a:gs pos="0">
              <a:srgbClr val="2B759D"/>
            </a:gs>
            <a:gs pos="80000">
              <a:srgbClr val="8DBBD7"/>
            </a:gs>
            <a:gs pos="40000">
              <a:srgbClr val="4693B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860" y="3583940"/>
            <a:ext cx="2149475" cy="2084705"/>
          </a:xfrm>
          <a:prstGeom prst="rect">
            <a:avLst/>
          </a:prstGeom>
        </p:spPr>
      </p:pic>
      <p:sp>
        <p:nvSpPr>
          <p:cNvPr id="35" name="TextBox 38"/>
          <p:cNvSpPr txBox="1"/>
          <p:nvPr/>
        </p:nvSpPr>
        <p:spPr>
          <a:xfrm>
            <a:off x="748030" y="5265420"/>
            <a:ext cx="169037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Poster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9"/>
          <p:cNvSpPr txBox="1"/>
          <p:nvPr/>
        </p:nvSpPr>
        <p:spPr>
          <a:xfrm>
            <a:off x="3408680" y="5151755"/>
            <a:ext cx="2315210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Loyverse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7" name="TextBox 40"/>
          <p:cNvSpPr txBox="1"/>
          <p:nvPr/>
        </p:nvSpPr>
        <p:spPr>
          <a:xfrm>
            <a:off x="6741160" y="5145405"/>
            <a:ext cx="208724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Repos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9697085" y="5182870"/>
            <a:ext cx="1335405" cy="523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Flavor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7440" y="4060190"/>
            <a:ext cx="1005840" cy="100584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7282180" y="4060190"/>
            <a:ext cx="1005840" cy="100584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4156075" y="4060190"/>
            <a:ext cx="1005840" cy="100584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جدول الدراسة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bg1"/>
                </a:solidFill>
              </a:rPr>
              <a:t>المرجعية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18965" y="1600200"/>
            <a:ext cx="3338687" cy="398780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GB" sz="2000" u="sng" dirty="0">
                <a:solidFill>
                  <a:schemeClr val="bg1"/>
                </a:solidFill>
              </a:rPr>
              <a:t>Billing &amp; Payment Methods</a:t>
            </a:r>
            <a:endParaRPr lang="en-US" altLang="en-GB" sz="2000" u="sng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845452" y="4177139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865772" y="4060190"/>
            <a:ext cx="1005840" cy="10058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Elbow Connector 3"/>
          <p:cNvCxnSpPr>
            <a:stCxn id="5" idx="2"/>
            <a:endCxn id="51" idx="0"/>
          </p:cNvCxnSpPr>
          <p:nvPr/>
        </p:nvCxnSpPr>
        <p:spPr>
          <a:xfrm rot="5400000">
            <a:off x="2818730" y="790611"/>
            <a:ext cx="2061210" cy="4477949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5400000">
            <a:off x="4346575" y="2310765"/>
            <a:ext cx="2061210" cy="143700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 flipV="1">
            <a:off x="5909945" y="2185035"/>
            <a:ext cx="2061210" cy="1689100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5400000" flipV="1">
            <a:off x="7201853" y="893128"/>
            <a:ext cx="2061210" cy="4272915"/>
          </a:xfrm>
          <a:prstGeom prst="bentConnector3">
            <a:avLst>
              <a:gd name="adj1" fmla="val 49985"/>
            </a:avLst>
          </a:prstGeom>
          <a:ln w="571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509" y="1523366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7832394" y="1922609"/>
            <a:ext cx="3347734" cy="8371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+mj-lt"/>
              </a:rPr>
              <a:t>المدير </a:t>
            </a:r>
            <a:endParaRPr lang="en-US" alt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7832394" y="2767109"/>
            <a:ext cx="3347734" cy="12556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</a:rPr>
              <a:t>هو المسؤول عن تنظيم العمل ومتابعة الأداء وضمان رضا الزبائن وجودة الخدمة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4" name="椭圆 40"/>
          <p:cNvSpPr/>
          <p:nvPr>
            <p:custDataLst>
              <p:tags r:id="rId3"/>
            </p:custDataLst>
          </p:nvPr>
        </p:nvSpPr>
        <p:spPr>
          <a:xfrm>
            <a:off x="7320822" y="2482164"/>
            <a:ext cx="254679" cy="254679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椭圆 41"/>
          <p:cNvSpPr/>
          <p:nvPr>
            <p:custDataLst>
              <p:tags r:id="rId4"/>
            </p:custDataLst>
          </p:nvPr>
        </p:nvSpPr>
        <p:spPr>
          <a:xfrm>
            <a:off x="7404238" y="2565580"/>
            <a:ext cx="87845" cy="878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接连接符 42"/>
          <p:cNvCxnSpPr/>
          <p:nvPr>
            <p:custDataLst>
              <p:tags r:id="rId5"/>
            </p:custDataLst>
          </p:nvPr>
        </p:nvCxnSpPr>
        <p:spPr>
          <a:xfrm>
            <a:off x="7575501" y="2609872"/>
            <a:ext cx="256893" cy="0"/>
          </a:xfrm>
          <a:prstGeom prst="line">
            <a:avLst/>
          </a:prstGeom>
          <a:ln>
            <a:solidFill>
              <a:schemeClr val="accent1"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5"/>
          <p:cNvSpPr/>
          <p:nvPr>
            <p:custDataLst>
              <p:tags r:id="rId6"/>
            </p:custDataLst>
          </p:nvPr>
        </p:nvSpPr>
        <p:spPr>
          <a:xfrm>
            <a:off x="8405164" y="4112233"/>
            <a:ext cx="3347734" cy="8371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+mj-lt"/>
              </a:rPr>
              <a:t>الموظف </a:t>
            </a:r>
            <a:endParaRPr lang="en-US" alt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矩形 6"/>
          <p:cNvSpPr/>
          <p:nvPr>
            <p:custDataLst>
              <p:tags r:id="rId7"/>
            </p:custDataLst>
          </p:nvPr>
        </p:nvSpPr>
        <p:spPr>
          <a:xfrm>
            <a:off x="8405164" y="4956734"/>
            <a:ext cx="3347734" cy="12556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</a:rPr>
              <a:t>هو الشخص الذي يقدم الخدمة للزبائن ويساهم في تنفيذ العمليات اليومية لضمان تجربة مميزة داخل مطعم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9" name="椭圆 43"/>
          <p:cNvSpPr/>
          <p:nvPr>
            <p:custDataLst>
              <p:tags r:id="rId8"/>
            </p:custDataLst>
          </p:nvPr>
        </p:nvSpPr>
        <p:spPr>
          <a:xfrm>
            <a:off x="7893592" y="4669573"/>
            <a:ext cx="254679" cy="254679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44"/>
          <p:cNvSpPr/>
          <p:nvPr>
            <p:custDataLst>
              <p:tags r:id="rId9"/>
            </p:custDataLst>
          </p:nvPr>
        </p:nvSpPr>
        <p:spPr>
          <a:xfrm>
            <a:off x="7977008" y="4752991"/>
            <a:ext cx="87845" cy="878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连接符 45"/>
          <p:cNvCxnSpPr/>
          <p:nvPr>
            <p:custDataLst>
              <p:tags r:id="rId10"/>
            </p:custDataLst>
          </p:nvPr>
        </p:nvCxnSpPr>
        <p:spPr>
          <a:xfrm>
            <a:off x="8148271" y="4797282"/>
            <a:ext cx="256893" cy="0"/>
          </a:xfrm>
          <a:prstGeom prst="line">
            <a:avLst/>
          </a:prstGeom>
          <a:ln>
            <a:solidFill>
              <a:schemeClr val="accent1"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: 形状 13"/>
          <p:cNvSpPr/>
          <p:nvPr>
            <p:custDataLst>
              <p:tags r:id="rId11"/>
            </p:custDataLst>
          </p:nvPr>
        </p:nvSpPr>
        <p:spPr>
          <a:xfrm rot="2347026">
            <a:off x="4348740" y="2963016"/>
            <a:ext cx="2058838" cy="2221242"/>
          </a:xfrm>
          <a:custGeom>
            <a:avLst/>
            <a:gdLst>
              <a:gd name="connsiteX0" fmla="*/ 43734 w 2144482"/>
              <a:gd name="connsiteY0" fmla="*/ 0 h 2313582"/>
              <a:gd name="connsiteX1" fmla="*/ 43838 w 2144482"/>
              <a:gd name="connsiteY1" fmla="*/ 10506 h 2313582"/>
              <a:gd name="connsiteX2" fmla="*/ 1292287 w 2144482"/>
              <a:gd name="connsiteY2" fmla="*/ 1532073 h 2313582"/>
              <a:gd name="connsiteX3" fmla="*/ 2100811 w 2144482"/>
              <a:gd name="connsiteY3" fmla="*/ 1514989 h 2313582"/>
              <a:gd name="connsiteX4" fmla="*/ 2144482 w 2144482"/>
              <a:gd name="connsiteY4" fmla="*/ 1500251 h 2313582"/>
              <a:gd name="connsiteX5" fmla="*/ 2141060 w 2144482"/>
              <a:gd name="connsiteY5" fmla="*/ 1509033 h 2313582"/>
              <a:gd name="connsiteX6" fmla="*/ 1170480 w 2144482"/>
              <a:gd name="connsiteY6" fmla="*/ 2313582 h 2313582"/>
              <a:gd name="connsiteX7" fmla="*/ 0 w 2144482"/>
              <a:gd name="connsiteY7" fmla="*/ 488754 h 2313582"/>
              <a:gd name="connsiteX8" fmla="*/ 23780 w 2144482"/>
              <a:gd name="connsiteY8" fmla="*/ 120987 h 2313582"/>
              <a:gd name="connsiteX9" fmla="*/ 43734 w 2144482"/>
              <a:gd name="connsiteY9" fmla="*/ 0 h 231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44482" h="2313582">
                <a:moveTo>
                  <a:pt x="43734" y="0"/>
                </a:moveTo>
                <a:lnTo>
                  <a:pt x="43838" y="10506"/>
                </a:lnTo>
                <a:cubicBezTo>
                  <a:pt x="85861" y="729340"/>
                  <a:pt x="575833" y="1360985"/>
                  <a:pt x="1292287" y="1532073"/>
                </a:cubicBezTo>
                <a:cubicBezTo>
                  <a:pt x="1567847" y="1597876"/>
                  <a:pt x="1844302" y="1587763"/>
                  <a:pt x="2100811" y="1514989"/>
                </a:cubicBezTo>
                <a:lnTo>
                  <a:pt x="2144482" y="1500251"/>
                </a:lnTo>
                <a:lnTo>
                  <a:pt x="2141060" y="1509033"/>
                </a:lnTo>
                <a:cubicBezTo>
                  <a:pt x="1930717" y="1994440"/>
                  <a:pt x="1574504" y="2313582"/>
                  <a:pt x="1170480" y="2313582"/>
                </a:cubicBezTo>
                <a:cubicBezTo>
                  <a:pt x="524042" y="2313582"/>
                  <a:pt x="0" y="1496579"/>
                  <a:pt x="0" y="488754"/>
                </a:cubicBezTo>
                <a:cubicBezTo>
                  <a:pt x="0" y="362776"/>
                  <a:pt x="8188" y="239780"/>
                  <a:pt x="23780" y="120987"/>
                </a:cubicBezTo>
                <a:lnTo>
                  <a:pt x="4373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2"/>
            </p:custDataLst>
          </p:nvPr>
        </p:nvSpPr>
        <p:spPr>
          <a:xfrm rot="16769730">
            <a:off x="5537240" y="3297421"/>
            <a:ext cx="2058838" cy="2221242"/>
          </a:xfrm>
          <a:custGeom>
            <a:avLst/>
            <a:gdLst>
              <a:gd name="connsiteX0" fmla="*/ 43734 w 2144482"/>
              <a:gd name="connsiteY0" fmla="*/ 0 h 2313582"/>
              <a:gd name="connsiteX1" fmla="*/ 43838 w 2144482"/>
              <a:gd name="connsiteY1" fmla="*/ 10506 h 2313582"/>
              <a:gd name="connsiteX2" fmla="*/ 1292287 w 2144482"/>
              <a:gd name="connsiteY2" fmla="*/ 1532073 h 2313582"/>
              <a:gd name="connsiteX3" fmla="*/ 2100811 w 2144482"/>
              <a:gd name="connsiteY3" fmla="*/ 1514989 h 2313582"/>
              <a:gd name="connsiteX4" fmla="*/ 2144482 w 2144482"/>
              <a:gd name="connsiteY4" fmla="*/ 1500251 h 2313582"/>
              <a:gd name="connsiteX5" fmla="*/ 2141060 w 2144482"/>
              <a:gd name="connsiteY5" fmla="*/ 1509033 h 2313582"/>
              <a:gd name="connsiteX6" fmla="*/ 1170480 w 2144482"/>
              <a:gd name="connsiteY6" fmla="*/ 2313582 h 2313582"/>
              <a:gd name="connsiteX7" fmla="*/ 0 w 2144482"/>
              <a:gd name="connsiteY7" fmla="*/ 488754 h 2313582"/>
              <a:gd name="connsiteX8" fmla="*/ 23780 w 2144482"/>
              <a:gd name="connsiteY8" fmla="*/ 120987 h 2313582"/>
              <a:gd name="connsiteX9" fmla="*/ 43734 w 2144482"/>
              <a:gd name="connsiteY9" fmla="*/ 0 h 231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44482" h="2313582">
                <a:moveTo>
                  <a:pt x="43734" y="0"/>
                </a:moveTo>
                <a:lnTo>
                  <a:pt x="43838" y="10506"/>
                </a:lnTo>
                <a:cubicBezTo>
                  <a:pt x="85861" y="729340"/>
                  <a:pt x="575833" y="1360985"/>
                  <a:pt x="1292287" y="1532073"/>
                </a:cubicBezTo>
                <a:cubicBezTo>
                  <a:pt x="1567847" y="1597876"/>
                  <a:pt x="1844302" y="1587763"/>
                  <a:pt x="2100811" y="1514989"/>
                </a:cubicBezTo>
                <a:lnTo>
                  <a:pt x="2144482" y="1500251"/>
                </a:lnTo>
                <a:lnTo>
                  <a:pt x="2141060" y="1509033"/>
                </a:lnTo>
                <a:cubicBezTo>
                  <a:pt x="1930717" y="1994440"/>
                  <a:pt x="1574504" y="2313582"/>
                  <a:pt x="1170480" y="2313582"/>
                </a:cubicBezTo>
                <a:cubicBezTo>
                  <a:pt x="524042" y="2313582"/>
                  <a:pt x="0" y="1496579"/>
                  <a:pt x="0" y="488754"/>
                </a:cubicBezTo>
                <a:cubicBezTo>
                  <a:pt x="0" y="362776"/>
                  <a:pt x="8188" y="239780"/>
                  <a:pt x="23780" y="120987"/>
                </a:cubicBezTo>
                <a:lnTo>
                  <a:pt x="4373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sp>
        <p:nvSpPr>
          <p:cNvPr id="17" name="任意多边形: 形状 16"/>
          <p:cNvSpPr/>
          <p:nvPr>
            <p:custDataLst>
              <p:tags r:id="rId13"/>
            </p:custDataLst>
          </p:nvPr>
        </p:nvSpPr>
        <p:spPr>
          <a:xfrm rot="9560794">
            <a:off x="5244913" y="2091202"/>
            <a:ext cx="2058838" cy="2221242"/>
          </a:xfrm>
          <a:custGeom>
            <a:avLst/>
            <a:gdLst>
              <a:gd name="connsiteX0" fmla="*/ 43734 w 2144482"/>
              <a:gd name="connsiteY0" fmla="*/ 0 h 2313582"/>
              <a:gd name="connsiteX1" fmla="*/ 43838 w 2144482"/>
              <a:gd name="connsiteY1" fmla="*/ 10506 h 2313582"/>
              <a:gd name="connsiteX2" fmla="*/ 1292287 w 2144482"/>
              <a:gd name="connsiteY2" fmla="*/ 1532073 h 2313582"/>
              <a:gd name="connsiteX3" fmla="*/ 2100811 w 2144482"/>
              <a:gd name="connsiteY3" fmla="*/ 1514989 h 2313582"/>
              <a:gd name="connsiteX4" fmla="*/ 2144482 w 2144482"/>
              <a:gd name="connsiteY4" fmla="*/ 1500251 h 2313582"/>
              <a:gd name="connsiteX5" fmla="*/ 2141060 w 2144482"/>
              <a:gd name="connsiteY5" fmla="*/ 1509033 h 2313582"/>
              <a:gd name="connsiteX6" fmla="*/ 1170480 w 2144482"/>
              <a:gd name="connsiteY6" fmla="*/ 2313582 h 2313582"/>
              <a:gd name="connsiteX7" fmla="*/ 0 w 2144482"/>
              <a:gd name="connsiteY7" fmla="*/ 488754 h 2313582"/>
              <a:gd name="connsiteX8" fmla="*/ 23780 w 2144482"/>
              <a:gd name="connsiteY8" fmla="*/ 120987 h 2313582"/>
              <a:gd name="connsiteX9" fmla="*/ 43734 w 2144482"/>
              <a:gd name="connsiteY9" fmla="*/ 0 h 231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44482" h="2313582">
                <a:moveTo>
                  <a:pt x="43734" y="0"/>
                </a:moveTo>
                <a:lnTo>
                  <a:pt x="43838" y="10506"/>
                </a:lnTo>
                <a:cubicBezTo>
                  <a:pt x="85861" y="729340"/>
                  <a:pt x="575833" y="1360985"/>
                  <a:pt x="1292287" y="1532073"/>
                </a:cubicBezTo>
                <a:cubicBezTo>
                  <a:pt x="1567847" y="1597876"/>
                  <a:pt x="1844302" y="1587763"/>
                  <a:pt x="2100811" y="1514989"/>
                </a:cubicBezTo>
                <a:lnTo>
                  <a:pt x="2144482" y="1500251"/>
                </a:lnTo>
                <a:lnTo>
                  <a:pt x="2141060" y="1509033"/>
                </a:lnTo>
                <a:cubicBezTo>
                  <a:pt x="1930717" y="1994440"/>
                  <a:pt x="1574504" y="2313582"/>
                  <a:pt x="1170480" y="2313582"/>
                </a:cubicBezTo>
                <a:cubicBezTo>
                  <a:pt x="524042" y="2313582"/>
                  <a:pt x="0" y="1496579"/>
                  <a:pt x="0" y="488754"/>
                </a:cubicBezTo>
                <a:cubicBezTo>
                  <a:pt x="0" y="362776"/>
                  <a:pt x="8188" y="239780"/>
                  <a:pt x="23780" y="120987"/>
                </a:cubicBezTo>
                <a:lnTo>
                  <a:pt x="4373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2" name="矩形 7"/>
          <p:cNvSpPr/>
          <p:nvPr>
            <p:custDataLst>
              <p:tags r:id="rId14"/>
            </p:custDataLst>
          </p:nvPr>
        </p:nvSpPr>
        <p:spPr>
          <a:xfrm>
            <a:off x="512763" y="3057744"/>
            <a:ext cx="3347734" cy="8371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+mj-lt"/>
              </a:rPr>
              <a:t>الزبون</a:t>
            </a:r>
            <a:endParaRPr lang="en-US" alt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矩形 8"/>
          <p:cNvSpPr/>
          <p:nvPr>
            <p:custDataLst>
              <p:tags r:id="rId15"/>
            </p:custDataLst>
          </p:nvPr>
        </p:nvSpPr>
        <p:spPr>
          <a:xfrm>
            <a:off x="512763" y="3902244"/>
            <a:ext cx="3347734" cy="12556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</a:rPr>
              <a:t>هو الشخص الذي يتواجد في المطعم بهدف طلب الطعام أو حجز طاولة للاستفادة من خدماته بشكل مباشر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5" name="椭圆 49"/>
          <p:cNvSpPr/>
          <p:nvPr>
            <p:custDataLst>
              <p:tags r:id="rId16"/>
            </p:custDataLst>
          </p:nvPr>
        </p:nvSpPr>
        <p:spPr>
          <a:xfrm>
            <a:off x="4130679" y="3615084"/>
            <a:ext cx="254679" cy="254679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椭圆 15"/>
          <p:cNvSpPr/>
          <p:nvPr>
            <p:custDataLst>
              <p:tags r:id="rId17"/>
            </p:custDataLst>
          </p:nvPr>
        </p:nvSpPr>
        <p:spPr>
          <a:xfrm>
            <a:off x="4214095" y="3698501"/>
            <a:ext cx="87845" cy="878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直接连接符 51"/>
          <p:cNvCxnSpPr/>
          <p:nvPr>
            <p:custDataLst>
              <p:tags r:id="rId18"/>
            </p:custDataLst>
          </p:nvPr>
        </p:nvCxnSpPr>
        <p:spPr>
          <a:xfrm>
            <a:off x="3873785" y="3742792"/>
            <a:ext cx="256893" cy="0"/>
          </a:xfrm>
          <a:prstGeom prst="line">
            <a:avLst/>
          </a:prstGeom>
          <a:ln>
            <a:solidFill>
              <a:schemeClr val="accent1"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70"/>
          <p:cNvSpPr txBox="1"/>
          <p:nvPr/>
        </p:nvSpPr>
        <p:spPr>
          <a:xfrm>
            <a:off x="669076" y="471946"/>
            <a:ext cx="10853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2800" b="1" dirty="0">
                <a:solidFill>
                  <a:schemeClr val="bg1"/>
                </a:solidFill>
              </a:rPr>
              <a:t>المتفاعلون مع التطبيق</a:t>
            </a:r>
            <a:endParaRPr lang="en-US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466715" y="3607435"/>
            <a:ext cx="1258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GB" sz="2000" u="sng">
                <a:solidFill>
                  <a:schemeClr val="bg1"/>
                </a:solidFill>
              </a:rPr>
              <a:t>Users</a:t>
            </a:r>
            <a:endParaRPr lang="en-GB" altLang="en-GB" sz="2000" u="sng">
              <a:solidFill>
                <a:schemeClr val="bg1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330" y="4268470"/>
            <a:ext cx="484505" cy="48450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040" y="2217420"/>
            <a:ext cx="629920" cy="62992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310" y="4389755"/>
            <a:ext cx="478790" cy="478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 animBg="1"/>
      <p:bldP spid="4" grpId="1" animBg="1"/>
      <p:bldP spid="5" grpId="0" animBg="1"/>
      <p:bldP spid="5" grpId="1" animBg="1"/>
      <p:bldP spid="7" grpId="0"/>
      <p:bldP spid="7" grpId="1"/>
      <p:bldP spid="8" grpId="0"/>
      <p:bldP spid="8" grpId="1"/>
      <p:bldP spid="9" grpId="0" animBg="1"/>
      <p:bldP spid="9" grpId="1" animBg="1"/>
      <p:bldP spid="10" grpId="0" animBg="1"/>
      <p:bldP spid="10" grpId="1" animBg="1"/>
      <p:bldP spid="14" grpId="0" animBg="1"/>
      <p:bldP spid="14" grpId="1" animBg="1"/>
      <p:bldP spid="18" grpId="0" animBg="1"/>
      <p:bldP spid="18" grpId="1" animBg="1"/>
      <p:bldP spid="17" grpId="0" animBg="1"/>
      <p:bldP spid="17" grpId="1" animBg="1"/>
      <p:bldP spid="12" grpId="0"/>
      <p:bldP spid="12" grpId="1"/>
      <p:bldP spid="13" grpId="0"/>
      <p:bldP spid="13" grpId="1"/>
      <p:bldP spid="15" grpId="0" animBg="1"/>
      <p:bldP spid="15" grpId="1" animBg="1"/>
      <p:bldP spid="16" grpId="0" animBg="1"/>
      <p:bldP spid="16" grpId="1" animBg="1"/>
      <p:bldP spid="22" grpId="0"/>
      <p:bldP spid="2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TextBox 1061"/>
          <p:cNvSpPr txBox="1"/>
          <p:nvPr/>
        </p:nvSpPr>
        <p:spPr>
          <a:xfrm>
            <a:off x="3828431" y="185421"/>
            <a:ext cx="1875826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2BD68"/>
                </a:solidFill>
                <a:latin typeface="Bahnschrift" panose="020B0502040204020203" pitchFamily="34" charset="0"/>
              </a:rPr>
              <a:t>01</a:t>
            </a:r>
            <a:endParaRPr lang="en-US" sz="2000" b="1" dirty="0">
              <a:solidFill>
                <a:srgbClr val="02BD68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400" u="sng" dirty="0">
                <a:latin typeface="Bahnschrift" panose="020B0502040204020203" pitchFamily="34" charset="0"/>
              </a:rPr>
              <a:t>Security</a:t>
            </a:r>
            <a:endParaRPr lang="en-US" altLang="en-GB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en-US" altLang="en-GB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</a:rPr>
              <a:t>Authentication</a:t>
            </a:r>
            <a:endParaRPr lang="en-US" altLang="en-GB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</a:rPr>
              <a:t>Authorization</a:t>
            </a:r>
            <a:br>
              <a:rPr lang="en-US" altLang="en-GB" sz="1300" dirty="0">
                <a:latin typeface="Bahnschrift" panose="020B0502040204020203" pitchFamily="34" charset="0"/>
              </a:rPr>
            </a:br>
            <a:r>
              <a:rPr lang="en-US" altLang="en-GB" sz="1300" dirty="0">
                <a:latin typeface="Bahnschrift" panose="020B0502040204020203" pitchFamily="34" charset="0"/>
              </a:rPr>
              <a:t>Email Verification</a:t>
            </a:r>
            <a:endParaRPr lang="en-US" altLang="en-GB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</a:rPr>
              <a:t>Resetting Passwords</a:t>
            </a:r>
            <a:endParaRPr lang="en-US" altLang="en-GB" sz="1300" dirty="0">
              <a:latin typeface="Bahnschrift" panose="020B0502040204020203" pitchFamily="34" charset="0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5819140" y="188595"/>
            <a:ext cx="1875790" cy="1497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rgbClr val="06B3BA"/>
                </a:solidFill>
                <a:latin typeface="Bahnschrift" panose="020B0502040204020203" pitchFamily="34" charset="0"/>
              </a:rPr>
              <a:t>02</a:t>
            </a:r>
            <a:endParaRPr lang="en-US" sz="2400" b="1" dirty="0">
              <a:solidFill>
                <a:srgbClr val="06B3BA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GB" altLang="en-US" sz="1400" u="sng" dirty="0">
                <a:latin typeface="Bahnschrift" panose="020B0502040204020203" pitchFamily="34" charset="0"/>
                <a:sym typeface="+mn-ea"/>
              </a:rPr>
              <a:t>Order Mangement</a:t>
            </a:r>
            <a:endParaRPr lang="en-GB" altLang="en-US" sz="1400" u="sng" dirty="0">
              <a:latin typeface="Bahnschrift" panose="020B0502040204020203" pitchFamily="34" charset="0"/>
              <a:sym typeface="+mn-ea"/>
            </a:endParaRPr>
          </a:p>
          <a:p>
            <a:pPr algn="l">
              <a:lnSpc>
                <a:spcPct val="100000"/>
              </a:lnSpc>
            </a:pPr>
            <a:endParaRPr lang="en-GB" altLang="en-US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Take</a:t>
            </a: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 A</a:t>
            </a: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way</a:t>
            </a:r>
            <a:endParaRPr lang="en-US" altLang="en-GB" sz="1300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Local Order</a:t>
            </a:r>
            <a:br>
              <a:rPr lang="en-GB" altLang="en-US" sz="1300" dirty="0">
                <a:latin typeface="Bahnschrift" panose="020B0502040204020203" pitchFamily="34" charset="0"/>
                <a:sym typeface="+mn-ea"/>
              </a:rPr>
            </a:b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Delivery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1300" u="sng" dirty="0">
              <a:solidFill>
                <a:schemeClr val="tx1"/>
              </a:solidFill>
              <a:latin typeface="Bahnschrift" panose="020B0502040204020203" pitchFamily="34" charset="0"/>
              <a:sym typeface="+mn-ea"/>
            </a:endParaRPr>
          </a:p>
        </p:txBody>
      </p:sp>
      <p:sp>
        <p:nvSpPr>
          <p:cNvPr id="1065" name="TextBox 1064"/>
          <p:cNvSpPr txBox="1"/>
          <p:nvPr/>
        </p:nvSpPr>
        <p:spPr>
          <a:xfrm>
            <a:off x="7810500" y="191770"/>
            <a:ext cx="1875790" cy="1623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>
                <a:solidFill>
                  <a:srgbClr val="026DB3"/>
                </a:solidFill>
                <a:latin typeface="Bahnschrift" panose="020B0502040204020203" pitchFamily="34" charset="0"/>
              </a:rPr>
              <a:t>03</a:t>
            </a:r>
            <a:endParaRPr lang="en-US" sz="2400" b="1" dirty="0">
              <a:solidFill>
                <a:srgbClr val="026DB3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en-US" sz="1400" u="sng" dirty="0">
                <a:latin typeface="Bahnschrift" panose="020B0502040204020203" pitchFamily="34" charset="0"/>
                <a:sym typeface="+mn-ea"/>
              </a:rPr>
              <a:t>Menu Mangement</a:t>
            </a:r>
            <a:endParaRPr lang="en-GB" altLang="en-US" sz="1400" u="sng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GB" altLang="en-US" sz="1400" u="sng" dirty="0">
                <a:latin typeface="Bahnschrift" panose="020B0502040204020203" pitchFamily="34" charset="0"/>
                <a:sym typeface="+mn-ea"/>
              </a:rPr>
            </a:b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Category Mangement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Meal Mangement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Offer Mangement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br>
              <a:rPr lang="en-US" altLang="en-GB" sz="1200" dirty="0">
                <a:latin typeface="Bahnschrift" panose="020B0502040204020203" pitchFamily="34" charset="0"/>
              </a:rPr>
            </a:br>
            <a:endParaRPr lang="en-US" altLang="en-GB" sz="1200" dirty="0">
              <a:latin typeface="Bahnschrift" panose="020B0502040204020203" pitchFamily="34" charset="0"/>
            </a:endParaRPr>
          </a:p>
        </p:txBody>
      </p:sp>
      <p:sp>
        <p:nvSpPr>
          <p:cNvPr id="1066" name="TextBox 1065"/>
          <p:cNvSpPr txBox="1"/>
          <p:nvPr/>
        </p:nvSpPr>
        <p:spPr>
          <a:xfrm>
            <a:off x="9801225" y="194945"/>
            <a:ext cx="2275840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5200BF"/>
                </a:solidFill>
                <a:latin typeface="Bahnschrift" panose="020B0502040204020203" pitchFamily="34" charset="0"/>
              </a:rPr>
              <a:t>04</a:t>
            </a:r>
            <a:endParaRPr lang="en-US" sz="2400" b="1" dirty="0">
              <a:solidFill>
                <a:srgbClr val="5200BF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1400" u="sng" dirty="0">
                <a:latin typeface="Bahnschrift" panose="020B0502040204020203" pitchFamily="34" charset="0"/>
                <a:sym typeface="+mn-ea"/>
              </a:rPr>
              <a:t>Financial Management</a:t>
            </a:r>
            <a:endParaRPr lang="en-US" altLang="en-GB" sz="1400" u="sng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GB" sz="1400" u="sng" dirty="0">
                <a:latin typeface="Bahnschrift" panose="020B0502040204020203" pitchFamily="34" charset="0"/>
                <a:sym typeface="+mn-ea"/>
              </a:rPr>
            </a:b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Employees Salary</a:t>
            </a:r>
            <a:br>
              <a:rPr lang="en-GB" altLang="en-US" sz="1300" dirty="0">
                <a:latin typeface="Bahnschrift" panose="020B0502040204020203" pitchFamily="34" charset="0"/>
                <a:sym typeface="+mn-ea"/>
              </a:rPr>
            </a:b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Order Financial Statistics</a:t>
            </a:r>
            <a:endParaRPr lang="en-US" altLang="en-GB" sz="1300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1300" dirty="0">
                <a:latin typeface="Bahnschrift" panose="020B0502040204020203" pitchFamily="34" charset="0"/>
              </a:rPr>
              <a:t>Maintenance</a:t>
            </a:r>
            <a:endParaRPr lang="en-US" altLang="en-GB" sz="1300" dirty="0">
              <a:latin typeface="Bahnschrift" panose="020B0502040204020203" pitchFamily="34" charset="0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2886710" y="5067300"/>
            <a:ext cx="2082165" cy="1091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ABA00"/>
                </a:solidFill>
                <a:latin typeface="Bahnschrift" panose="020B0502040204020203" pitchFamily="34" charset="0"/>
              </a:rPr>
              <a:t>05</a:t>
            </a:r>
            <a:endParaRPr lang="en-US" sz="2400" b="1" dirty="0">
              <a:solidFill>
                <a:srgbClr val="6ABA00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400" u="sng" dirty="0">
                <a:sym typeface="+mn-ea"/>
              </a:rPr>
              <a:t>Inventory</a:t>
            </a:r>
            <a:r>
              <a:rPr lang="en-GB" altLang="en-US" sz="1400" u="sng" dirty="0">
                <a:sym typeface="+mn-ea"/>
              </a:rPr>
              <a:t> </a:t>
            </a:r>
            <a:r>
              <a:rPr lang="en-US" altLang="en-GB" sz="1400" u="sng" dirty="0">
                <a:sym typeface="+mn-ea"/>
              </a:rPr>
              <a:t>Management</a:t>
            </a:r>
            <a:endParaRPr lang="en-US" altLang="en-GB" sz="1400" u="sng" dirty="0"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en-GB" sz="1400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Ingredient</a:t>
            </a: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 </a:t>
            </a: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Managemen</a:t>
            </a: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t</a:t>
            </a:r>
            <a:endParaRPr lang="en-GB" altLang="en-US" sz="1300" u="sng" dirty="0">
              <a:latin typeface="Bahnschrift" panose="020B0502040204020203" pitchFamily="34" charset="0"/>
              <a:sym typeface="+mn-ea"/>
            </a:endParaRPr>
          </a:p>
        </p:txBody>
      </p:sp>
      <p:sp>
        <p:nvSpPr>
          <p:cNvPr id="1068" name="TextBox 1067"/>
          <p:cNvSpPr txBox="1"/>
          <p:nvPr/>
        </p:nvSpPr>
        <p:spPr>
          <a:xfrm>
            <a:off x="4968875" y="5067300"/>
            <a:ext cx="248475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A97"/>
                </a:solidFill>
                <a:latin typeface="Bahnschrift" panose="020B0502040204020203" pitchFamily="34" charset="0"/>
              </a:rPr>
              <a:t>06</a:t>
            </a:r>
            <a:endParaRPr lang="en-US" sz="2000" b="1" dirty="0">
              <a:solidFill>
                <a:srgbClr val="00BA97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400" u="sng" dirty="0">
                <a:latin typeface="Bahnschrift" panose="020B0502040204020203" pitchFamily="34" charset="0"/>
                <a:sym typeface="+mn-ea"/>
              </a:rPr>
              <a:t>Timed Seating Management</a:t>
            </a:r>
            <a:endParaRPr lang="en-US" altLang="en-GB" sz="1400" u="sng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latin typeface="Bahnschrift" panose="020B0502040204020203" pitchFamily="34" charset="0"/>
                <a:sym typeface="+mn-ea"/>
              </a:rPr>
              <a:t> </a:t>
            </a:r>
            <a:endParaRPr lang="en-US" sz="14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Table Mangement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Reservation Management</a:t>
            </a:r>
            <a:endParaRPr lang="en-US" altLang="en-GB" sz="1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69" name="TextBox 1068"/>
          <p:cNvSpPr txBox="1"/>
          <p:nvPr/>
        </p:nvSpPr>
        <p:spPr>
          <a:xfrm>
            <a:off x="7586980" y="5067300"/>
            <a:ext cx="1991995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98BB"/>
                </a:solidFill>
                <a:latin typeface="Bahnschrift" panose="020B0502040204020203" pitchFamily="34" charset="0"/>
              </a:rPr>
              <a:t>07</a:t>
            </a:r>
            <a:endParaRPr lang="en-US" sz="2400" b="1" dirty="0">
              <a:solidFill>
                <a:srgbClr val="0098BB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400" u="sng" dirty="0">
                <a:latin typeface="Bahnschrift" panose="020B0502040204020203" pitchFamily="34" charset="0"/>
              </a:rPr>
              <a:t>Customer Rating</a:t>
            </a:r>
            <a:endParaRPr lang="en-US" altLang="en-GB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u="sng" dirty="0">
                <a:latin typeface="Bahnschrift" panose="020B0502040204020203" pitchFamily="34" charset="0"/>
              </a:rPr>
              <a:t> </a:t>
            </a:r>
            <a:endParaRPr lang="en-US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300" dirty="0">
                <a:latin typeface="Bahnschrift" panose="020B0502040204020203" pitchFamily="34" charset="0"/>
              </a:rPr>
              <a:t>Meal Rating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Offer Rating</a:t>
            </a:r>
            <a:endParaRPr lang="en-GB" altLang="en-US" sz="13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en-GB" altLang="en-US" sz="1300" dirty="0">
              <a:latin typeface="Bahnschrift" panose="020B0502040204020203" pitchFamily="34" charset="0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9486900" y="5067300"/>
            <a:ext cx="1875790" cy="1758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>
                <a:solidFill>
                  <a:srgbClr val="0040BB"/>
                </a:solidFill>
                <a:latin typeface="Bahnschrift" panose="020B0502040204020203" pitchFamily="34" charset="0"/>
              </a:rPr>
              <a:t>08</a:t>
            </a:r>
            <a:endParaRPr lang="en-US" sz="2400" b="1" dirty="0">
              <a:solidFill>
                <a:srgbClr val="0040BB"/>
              </a:solidFill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400" u="sng" dirty="0">
                <a:latin typeface="Bahnschrift" panose="020B0502040204020203" pitchFamily="34" charset="0"/>
              </a:rPr>
              <a:t>Others</a:t>
            </a:r>
            <a:endParaRPr lang="en-GB" altLang="en-US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en-GB" altLang="en-US" sz="14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300" dirty="0">
                <a:latin typeface="Bahnschrift" panose="020B0502040204020203" pitchFamily="34" charset="0"/>
                <a:sym typeface="+mn-ea"/>
              </a:rPr>
              <a:t>Locations</a:t>
            </a:r>
            <a:br>
              <a:rPr lang="en-GB" altLang="en-US" sz="1300" dirty="0">
                <a:latin typeface="Bahnschrift" panose="020B0502040204020203" pitchFamily="34" charset="0"/>
                <a:sym typeface="+mn-ea"/>
              </a:rPr>
            </a:b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Languages</a:t>
            </a:r>
            <a:endParaRPr lang="en-US" altLang="en-GB" sz="1300" u="sng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Notifications</a:t>
            </a:r>
            <a:endParaRPr lang="en-US" altLang="en-GB" sz="1300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GB" sz="1300" dirty="0">
                <a:latin typeface="Bahnschrift" panose="020B0502040204020203" pitchFamily="34" charset="0"/>
                <a:sym typeface="+mn-ea"/>
              </a:rPr>
              <a:t>Cart Operations</a:t>
            </a:r>
            <a:endParaRPr lang="en-US" altLang="en-GB" sz="1300" dirty="0">
              <a:latin typeface="Bahnschrift" panose="020B0502040204020203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GB" altLang="en-US" sz="1300" u="sng" dirty="0">
              <a:latin typeface="Bahnschrift" panose="020B0502040204020203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239250" y="1920240"/>
            <a:ext cx="2405380" cy="2092960"/>
            <a:chOff x="14550" y="3024"/>
            <a:chExt cx="3788" cy="3296"/>
          </a:xfrm>
        </p:grpSpPr>
        <p:grpSp>
          <p:nvGrpSpPr>
            <p:cNvPr id="1080" name="Group 1079"/>
            <p:cNvGrpSpPr/>
            <p:nvPr/>
          </p:nvGrpSpPr>
          <p:grpSpPr>
            <a:xfrm>
              <a:off x="14550" y="3024"/>
              <a:ext cx="3788" cy="3297"/>
              <a:chOff x="9237921" y="1920060"/>
              <a:chExt cx="2405659" cy="2093384"/>
            </a:xfrm>
          </p:grpSpPr>
          <p:grpSp>
            <p:nvGrpSpPr>
              <p:cNvPr id="43" name="Group 42"/>
              <p:cNvGrpSpPr/>
              <p:nvPr/>
            </p:nvGrpSpPr>
            <p:grpSpPr>
              <a:xfrm flipV="1">
                <a:off x="9237921" y="1920060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44" name="Freeform: Shape 43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200B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: Shape 44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701E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" name="Oval 57"/>
              <p:cNvSpPr/>
              <p:nvPr/>
            </p:nvSpPr>
            <p:spPr>
              <a:xfrm>
                <a:off x="10581536" y="2008339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4" y="3537"/>
              <a:ext cx="720" cy="720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8258810" y="2856230"/>
            <a:ext cx="2405380" cy="2092960"/>
            <a:chOff x="13006" y="4498"/>
            <a:chExt cx="3788" cy="3296"/>
          </a:xfrm>
        </p:grpSpPr>
        <p:grpSp>
          <p:nvGrpSpPr>
            <p:cNvPr id="1081" name="Group 1080"/>
            <p:cNvGrpSpPr/>
            <p:nvPr/>
          </p:nvGrpSpPr>
          <p:grpSpPr>
            <a:xfrm>
              <a:off x="13006" y="4498"/>
              <a:ext cx="3788" cy="3297"/>
              <a:chOff x="8258763" y="2856165"/>
              <a:chExt cx="2405659" cy="2093384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8258763" y="2856165"/>
                <a:ext cx="2405659" cy="2093384"/>
                <a:chOff x="2318734" y="2501008"/>
                <a:chExt cx="2405659" cy="2093384"/>
              </a:xfrm>
            </p:grpSpPr>
            <p:sp>
              <p:nvSpPr>
                <p:cNvPr id="41" name="Freeform: Shape 40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40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Freeform: Shape 41"/>
                <p:cNvSpPr/>
                <p:nvPr/>
              </p:nvSpPr>
              <p:spPr>
                <a:xfrm>
                  <a:off x="2318734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4FE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9" name="Oval 58"/>
              <p:cNvSpPr/>
              <p:nvPr/>
            </p:nvSpPr>
            <p:spPr>
              <a:xfrm>
                <a:off x="9617868" y="3886603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40" y="6507"/>
              <a:ext cx="720" cy="720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7264400" y="1930400"/>
            <a:ext cx="2405380" cy="2092960"/>
            <a:chOff x="11440" y="3040"/>
            <a:chExt cx="3788" cy="3296"/>
          </a:xfrm>
        </p:grpSpPr>
        <p:grpSp>
          <p:nvGrpSpPr>
            <p:cNvPr id="1082" name="Group 1081"/>
            <p:cNvGrpSpPr/>
            <p:nvPr/>
          </p:nvGrpSpPr>
          <p:grpSpPr>
            <a:xfrm>
              <a:off x="11440" y="3040"/>
              <a:ext cx="3788" cy="3297"/>
              <a:chOff x="7264273" y="1930239"/>
              <a:chExt cx="2405659" cy="2093384"/>
            </a:xfrm>
          </p:grpSpPr>
          <p:grpSp>
            <p:nvGrpSpPr>
              <p:cNvPr id="37" name="Group 36"/>
              <p:cNvGrpSpPr/>
              <p:nvPr/>
            </p:nvGrpSpPr>
            <p:grpSpPr>
              <a:xfrm flipV="1">
                <a:off x="7264273" y="1930239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38" name="Freeform: Shape 37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26DB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38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CE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" name="Oval 54"/>
              <p:cNvSpPr/>
              <p:nvPr/>
            </p:nvSpPr>
            <p:spPr>
              <a:xfrm>
                <a:off x="8614660" y="2021674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91" y="3450"/>
              <a:ext cx="720" cy="720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6304915" y="2867660"/>
            <a:ext cx="2405380" cy="2092960"/>
            <a:chOff x="9929" y="4516"/>
            <a:chExt cx="3788" cy="3296"/>
          </a:xfrm>
        </p:grpSpPr>
        <p:grpSp>
          <p:nvGrpSpPr>
            <p:cNvPr id="1083" name="Group 1082"/>
            <p:cNvGrpSpPr/>
            <p:nvPr/>
          </p:nvGrpSpPr>
          <p:grpSpPr>
            <a:xfrm>
              <a:off x="9929" y="4516"/>
              <a:ext cx="3788" cy="3297"/>
              <a:chOff x="6303810" y="2866344"/>
              <a:chExt cx="2405659" cy="2093384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6303810" y="2866344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35" name="Freeform: Shape 34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98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Freeform: Shape 35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8E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6" name="Oval 55"/>
              <p:cNvSpPr/>
              <p:nvPr/>
            </p:nvSpPr>
            <p:spPr>
              <a:xfrm>
                <a:off x="7650992" y="3899938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25" name="Picture 102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44" y="6560"/>
              <a:ext cx="720" cy="720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5180330" y="1796415"/>
            <a:ext cx="2405380" cy="2217420"/>
            <a:chOff x="8158" y="2829"/>
            <a:chExt cx="3788" cy="3492"/>
          </a:xfrm>
        </p:grpSpPr>
        <p:grpSp>
          <p:nvGrpSpPr>
            <p:cNvPr id="1084" name="Group 1083"/>
            <p:cNvGrpSpPr/>
            <p:nvPr/>
          </p:nvGrpSpPr>
          <p:grpSpPr>
            <a:xfrm>
              <a:off x="8158" y="2829"/>
              <a:ext cx="3788" cy="3492"/>
              <a:chOff x="5181413" y="1920060"/>
              <a:chExt cx="2405659" cy="2093384"/>
            </a:xfrm>
          </p:grpSpPr>
          <p:grpSp>
            <p:nvGrpSpPr>
              <p:cNvPr id="31" name="Group 30"/>
              <p:cNvGrpSpPr/>
              <p:nvPr/>
            </p:nvGrpSpPr>
            <p:grpSpPr>
              <a:xfrm flipV="1">
                <a:off x="5181413" y="1920060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32" name="Freeform: Shape 31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6B3B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Freeform: Shape 32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E5E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" name="Oval 50"/>
              <p:cNvSpPr/>
              <p:nvPr/>
            </p:nvSpPr>
            <p:spPr>
              <a:xfrm>
                <a:off x="6520935" y="2022721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60" y="3398"/>
              <a:ext cx="624" cy="72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4211320" y="2868930"/>
            <a:ext cx="2405380" cy="2092960"/>
            <a:chOff x="6632" y="4518"/>
            <a:chExt cx="3788" cy="3296"/>
          </a:xfrm>
        </p:grpSpPr>
        <p:grpSp>
          <p:nvGrpSpPr>
            <p:cNvPr id="1085" name="Group 1084"/>
            <p:cNvGrpSpPr/>
            <p:nvPr/>
          </p:nvGrpSpPr>
          <p:grpSpPr>
            <a:xfrm>
              <a:off x="6632" y="4518"/>
              <a:ext cx="3788" cy="3297"/>
              <a:chOff x="4211168" y="2869166"/>
              <a:chExt cx="2405659" cy="2093384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4211168" y="2869166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28" name="Freeform: Shape 27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A9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Freeform: Shape 28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1E8B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Oval 51"/>
              <p:cNvSpPr/>
              <p:nvPr/>
            </p:nvSpPr>
            <p:spPr>
              <a:xfrm>
                <a:off x="5557267" y="3900985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4" y="6513"/>
              <a:ext cx="720" cy="720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3255010" y="1920240"/>
            <a:ext cx="2405380" cy="2092960"/>
            <a:chOff x="5126" y="3024"/>
            <a:chExt cx="3788" cy="3296"/>
          </a:xfrm>
        </p:grpSpPr>
        <p:grpSp>
          <p:nvGrpSpPr>
            <p:cNvPr id="1086" name="Group 1085"/>
            <p:cNvGrpSpPr/>
            <p:nvPr/>
          </p:nvGrpSpPr>
          <p:grpSpPr>
            <a:xfrm>
              <a:off x="5126" y="3024"/>
              <a:ext cx="3788" cy="3297"/>
              <a:chOff x="3217914" y="1920060"/>
              <a:chExt cx="2405659" cy="2093384"/>
            </a:xfrm>
          </p:grpSpPr>
          <p:grpSp>
            <p:nvGrpSpPr>
              <p:cNvPr id="46" name="Group 45"/>
              <p:cNvGrpSpPr/>
              <p:nvPr/>
            </p:nvGrpSpPr>
            <p:grpSpPr>
              <a:xfrm flipV="1">
                <a:off x="3217914" y="1920060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47" name="Freeform: Shape 46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2BD6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: Shape 47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1E87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" name="Oval 48"/>
              <p:cNvSpPr/>
              <p:nvPr/>
            </p:nvSpPr>
            <p:spPr>
              <a:xfrm>
                <a:off x="4574285" y="2006831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" y="3459"/>
              <a:ext cx="720" cy="720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2254250" y="2868930"/>
            <a:ext cx="2405380" cy="2092960"/>
            <a:chOff x="3550" y="4518"/>
            <a:chExt cx="3788" cy="3296"/>
          </a:xfrm>
        </p:grpSpPr>
        <p:grpSp>
          <p:nvGrpSpPr>
            <p:cNvPr id="1087" name="Group 1086"/>
            <p:cNvGrpSpPr/>
            <p:nvPr/>
          </p:nvGrpSpPr>
          <p:grpSpPr>
            <a:xfrm>
              <a:off x="3550" y="4518"/>
              <a:ext cx="3788" cy="3297"/>
              <a:chOff x="2255595" y="2871958"/>
              <a:chExt cx="2405659" cy="2093384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2255595" y="2871958"/>
                <a:ext cx="2405659" cy="2093384"/>
                <a:chOff x="2327280" y="2501008"/>
                <a:chExt cx="2405659" cy="2093384"/>
              </a:xfrm>
            </p:grpSpPr>
            <p:sp>
              <p:nvSpPr>
                <p:cNvPr id="22" name="Freeform: Shape 21"/>
                <p:cNvSpPr/>
                <p:nvPr/>
              </p:nvSpPr>
              <p:spPr>
                <a:xfrm>
                  <a:off x="2334225" y="3060700"/>
                  <a:ext cx="1875825" cy="1533692"/>
                </a:xfrm>
                <a:custGeom>
                  <a:avLst/>
                  <a:gdLst>
                    <a:gd name="connsiteX0" fmla="*/ 0 w 1875825"/>
                    <a:gd name="connsiteY0" fmla="*/ 0 h 1533692"/>
                    <a:gd name="connsiteX1" fmla="*/ 942365 w 1875825"/>
                    <a:gd name="connsiteY1" fmla="*/ 0 h 1533692"/>
                    <a:gd name="connsiteX2" fmla="*/ 1875825 w 1875825"/>
                    <a:gd name="connsiteY2" fmla="*/ 933460 h 1533692"/>
                    <a:gd name="connsiteX3" fmla="*/ 1875825 w 1875825"/>
                    <a:gd name="connsiteY3" fmla="*/ 1528048 h 1533692"/>
                    <a:gd name="connsiteX4" fmla="*/ 1803033 w 1875825"/>
                    <a:gd name="connsiteY4" fmla="*/ 1533692 h 1533692"/>
                    <a:gd name="connsiteX5" fmla="*/ 1278600 w 1875825"/>
                    <a:gd name="connsiteY5" fmla="*/ 1177429 h 1533692"/>
                    <a:gd name="connsiteX6" fmla="*/ 1259874 w 1875825"/>
                    <a:gd name="connsiteY6" fmla="*/ 1115605 h 1533692"/>
                    <a:gd name="connsiteX7" fmla="*/ 1261813 w 1875825"/>
                    <a:gd name="connsiteY7" fmla="*/ 1115605 h 1533692"/>
                    <a:gd name="connsiteX8" fmla="*/ 1261813 w 1875825"/>
                    <a:gd name="connsiteY8" fmla="*/ 976194 h 1533692"/>
                    <a:gd name="connsiteX9" fmla="*/ 862155 w 1875825"/>
                    <a:gd name="connsiteY9" fmla="*/ 576536 h 1533692"/>
                    <a:gd name="connsiteX10" fmla="*/ 0 w 1875825"/>
                    <a:gd name="connsiteY10" fmla="*/ 576536 h 1533692"/>
                    <a:gd name="connsiteX11" fmla="*/ 0 w 1875825"/>
                    <a:gd name="connsiteY11" fmla="*/ 0 h 153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875825" h="1533692">
                      <a:moveTo>
                        <a:pt x="0" y="0"/>
                      </a:moveTo>
                      <a:lnTo>
                        <a:pt x="942365" y="0"/>
                      </a:lnTo>
                      <a:cubicBezTo>
                        <a:pt x="1457901" y="0"/>
                        <a:pt x="1875825" y="417924"/>
                        <a:pt x="1875825" y="933460"/>
                      </a:cubicBezTo>
                      <a:lnTo>
                        <a:pt x="1875825" y="1528048"/>
                      </a:lnTo>
                      <a:lnTo>
                        <a:pt x="1803033" y="1533692"/>
                      </a:lnTo>
                      <a:cubicBezTo>
                        <a:pt x="1567279" y="1533692"/>
                        <a:pt x="1365003" y="1386790"/>
                        <a:pt x="1278600" y="1177429"/>
                      </a:cubicBezTo>
                      <a:lnTo>
                        <a:pt x="1259874" y="1115605"/>
                      </a:lnTo>
                      <a:lnTo>
                        <a:pt x="1261813" y="1115605"/>
                      </a:lnTo>
                      <a:lnTo>
                        <a:pt x="1261813" y="976194"/>
                      </a:lnTo>
                      <a:cubicBezTo>
                        <a:pt x="1261813" y="755469"/>
                        <a:pt x="1082880" y="576536"/>
                        <a:pt x="862155" y="576536"/>
                      </a:cubicBezTo>
                      <a:lnTo>
                        <a:pt x="0" y="5765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ABA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Freeform: Shape 20"/>
                <p:cNvSpPr/>
                <p:nvPr/>
              </p:nvSpPr>
              <p:spPr>
                <a:xfrm>
                  <a:off x="2327280" y="2501008"/>
                  <a:ext cx="2405659" cy="2087740"/>
                </a:xfrm>
                <a:custGeom>
                  <a:avLst/>
                  <a:gdLst>
                    <a:gd name="connsiteX0" fmla="*/ 0 w 2405659"/>
                    <a:gd name="connsiteY0" fmla="*/ 0 h 2087740"/>
                    <a:gd name="connsiteX1" fmla="*/ 1080537 w 2405659"/>
                    <a:gd name="connsiteY1" fmla="*/ 0 h 2087740"/>
                    <a:gd name="connsiteX2" fmla="*/ 2405659 w 2405659"/>
                    <a:gd name="connsiteY2" fmla="*/ 1325122 h 2087740"/>
                    <a:gd name="connsiteX3" fmla="*/ 2405658 w 2405659"/>
                    <a:gd name="connsiteY3" fmla="*/ 1325122 h 2087740"/>
                    <a:gd name="connsiteX4" fmla="*/ 2378737 w 2405659"/>
                    <a:gd name="connsiteY4" fmla="*/ 1592181 h 2087740"/>
                    <a:gd name="connsiteX5" fmla="*/ 2352936 w 2405659"/>
                    <a:gd name="connsiteY5" fmla="*/ 1675297 h 2087740"/>
                    <a:gd name="connsiteX6" fmla="*/ 2353136 w 2405659"/>
                    <a:gd name="connsiteY6" fmla="*/ 1675297 h 2087740"/>
                    <a:gd name="connsiteX7" fmla="*/ 2334411 w 2405659"/>
                    <a:gd name="connsiteY7" fmla="*/ 1737121 h 2087740"/>
                    <a:gd name="connsiteX8" fmla="*/ 1896656 w 2405659"/>
                    <a:gd name="connsiteY8" fmla="*/ 2086663 h 2087740"/>
                    <a:gd name="connsiteX9" fmla="*/ 1882770 w 2405659"/>
                    <a:gd name="connsiteY9" fmla="*/ 2087740 h 2087740"/>
                    <a:gd name="connsiteX10" fmla="*/ 1882770 w 2405659"/>
                    <a:gd name="connsiteY10" fmla="*/ 1493152 h 2087740"/>
                    <a:gd name="connsiteX11" fmla="*/ 949310 w 2405659"/>
                    <a:gd name="connsiteY11" fmla="*/ 559692 h 2087740"/>
                    <a:gd name="connsiteX12" fmla="*/ 6945 w 2405659"/>
                    <a:gd name="connsiteY12" fmla="*/ 559692 h 2087740"/>
                    <a:gd name="connsiteX13" fmla="*/ 6945 w 2405659"/>
                    <a:gd name="connsiteY13" fmla="*/ 68892 h 2087740"/>
                    <a:gd name="connsiteX14" fmla="*/ 0 w 2405659"/>
                    <a:gd name="connsiteY14" fmla="*/ 0 h 208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05659" h="2087740">
                      <a:moveTo>
                        <a:pt x="0" y="0"/>
                      </a:moveTo>
                      <a:lnTo>
                        <a:pt x="1080537" y="0"/>
                      </a:lnTo>
                      <a:cubicBezTo>
                        <a:pt x="1812382" y="0"/>
                        <a:pt x="2405659" y="593277"/>
                        <a:pt x="2405659" y="1325122"/>
                      </a:cubicBezTo>
                      <a:lnTo>
                        <a:pt x="2405658" y="1325122"/>
                      </a:lnTo>
                      <a:cubicBezTo>
                        <a:pt x="2405658" y="1416603"/>
                        <a:pt x="2396388" y="1505918"/>
                        <a:pt x="2378737" y="1592181"/>
                      </a:cubicBezTo>
                      <a:lnTo>
                        <a:pt x="2352936" y="1675297"/>
                      </a:lnTo>
                      <a:lnTo>
                        <a:pt x="2353136" y="1675297"/>
                      </a:lnTo>
                      <a:lnTo>
                        <a:pt x="2334411" y="1737121"/>
                      </a:lnTo>
                      <a:cubicBezTo>
                        <a:pt x="2258809" y="1920312"/>
                        <a:pt x="2094491" y="2055683"/>
                        <a:pt x="1896656" y="2086663"/>
                      </a:cubicBezTo>
                      <a:lnTo>
                        <a:pt x="1882770" y="2087740"/>
                      </a:lnTo>
                      <a:lnTo>
                        <a:pt x="1882770" y="1493152"/>
                      </a:lnTo>
                      <a:cubicBezTo>
                        <a:pt x="1882770" y="977616"/>
                        <a:pt x="1464846" y="559692"/>
                        <a:pt x="949310" y="559692"/>
                      </a:cubicBezTo>
                      <a:lnTo>
                        <a:pt x="6945" y="559692"/>
                      </a:lnTo>
                      <a:lnTo>
                        <a:pt x="6945" y="688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4EA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" name="Oval 49"/>
              <p:cNvSpPr/>
              <p:nvPr/>
            </p:nvSpPr>
            <p:spPr>
              <a:xfrm>
                <a:off x="3598124" y="3921170"/>
                <a:ext cx="957129" cy="9571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9" y="6564"/>
              <a:ext cx="720" cy="720"/>
            </a:xfrm>
            <a:prstGeom prst="rect">
              <a:avLst/>
            </a:prstGeom>
          </p:spPr>
        </p:pic>
      </p:grpSp>
      <p:sp>
        <p:nvSpPr>
          <p:cNvPr id="1089" name="Rectangle 1088"/>
          <p:cNvSpPr/>
          <p:nvPr/>
        </p:nvSpPr>
        <p:spPr>
          <a:xfrm>
            <a:off x="-34454" y="0"/>
            <a:ext cx="46102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8" name="Group 1087"/>
          <p:cNvGrpSpPr/>
          <p:nvPr/>
        </p:nvGrpSpPr>
        <p:grpSpPr>
          <a:xfrm>
            <a:off x="581810" y="2191963"/>
            <a:ext cx="2391222" cy="2384277"/>
            <a:chOff x="256841" y="2203164"/>
            <a:chExt cx="2391222" cy="2384277"/>
          </a:xfrm>
        </p:grpSpPr>
        <p:sp>
          <p:nvSpPr>
            <p:cNvPr id="2" name="Oval 1"/>
            <p:cNvSpPr/>
            <p:nvPr/>
          </p:nvSpPr>
          <p:spPr>
            <a:xfrm>
              <a:off x="256841" y="2203164"/>
              <a:ext cx="2384277" cy="23842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3" name="Group 1042"/>
            <p:cNvGrpSpPr/>
            <p:nvPr/>
          </p:nvGrpSpPr>
          <p:grpSpPr>
            <a:xfrm>
              <a:off x="263786" y="3125398"/>
              <a:ext cx="2384277" cy="715762"/>
              <a:chOff x="2730458" y="513974"/>
              <a:chExt cx="2384277" cy="715762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730458" y="513974"/>
                <a:ext cx="2384277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en-US" sz="2000" dirty="0">
                    <a:latin typeface="Arial Narrow" panose="020B0606020202030204" pitchFamily="34" charset="0"/>
                  </a:rPr>
                  <a:t>متطلبات وظيفية</a:t>
                </a:r>
                <a:endParaRPr lang="en-US" altLang="en-US" sz="2000" dirty="0"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1042" name="Group 1041"/>
              <p:cNvGrpSpPr/>
              <p:nvPr/>
            </p:nvGrpSpPr>
            <p:grpSpPr>
              <a:xfrm>
                <a:off x="3389224" y="1150681"/>
                <a:ext cx="1049499" cy="79055"/>
                <a:chOff x="1914258" y="1341690"/>
                <a:chExt cx="6496630" cy="404523"/>
              </a:xfrm>
            </p:grpSpPr>
            <p:sp>
              <p:nvSpPr>
                <p:cNvPr id="1034" name="Rectangle: Rounded Corners 1033"/>
                <p:cNvSpPr/>
                <p:nvPr/>
              </p:nvSpPr>
              <p:spPr>
                <a:xfrm>
                  <a:off x="1914258" y="1341690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84EA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5" name="Rectangle: Rounded Corners 1034"/>
                <p:cNvSpPr/>
                <p:nvPr/>
              </p:nvSpPr>
              <p:spPr>
                <a:xfrm>
                  <a:off x="2739682" y="1352848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E87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6" name="Rectangle: Rounded Corners 1035"/>
                <p:cNvSpPr/>
                <p:nvPr/>
              </p:nvSpPr>
              <p:spPr>
                <a:xfrm>
                  <a:off x="3565106" y="1364006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E8B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Rectangle: Rounded Corners 1036"/>
                <p:cNvSpPr/>
                <p:nvPr/>
              </p:nvSpPr>
              <p:spPr>
                <a:xfrm>
                  <a:off x="4390530" y="1375164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E5E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8" name="Rectangle: Rounded Corners 1037"/>
                <p:cNvSpPr/>
                <p:nvPr/>
              </p:nvSpPr>
              <p:spPr>
                <a:xfrm>
                  <a:off x="5215954" y="1386322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B8E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9" name="Rectangle: Rounded Corners 1038"/>
                <p:cNvSpPr/>
                <p:nvPr/>
              </p:nvSpPr>
              <p:spPr>
                <a:xfrm>
                  <a:off x="6041378" y="1397480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8CE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0" name="Rectangle: Rounded Corners 1039"/>
                <p:cNvSpPr/>
                <p:nvPr/>
              </p:nvSpPr>
              <p:spPr>
                <a:xfrm>
                  <a:off x="6866802" y="1408638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4FE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Rectangle: Rounded Corners 1040"/>
                <p:cNvSpPr/>
                <p:nvPr/>
              </p:nvSpPr>
              <p:spPr>
                <a:xfrm>
                  <a:off x="7692226" y="1419796"/>
                  <a:ext cx="718662" cy="3264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6701E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045" name="Graphic 1044" descr="Stars with solid fill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03327" y="2383186"/>
              <a:ext cx="705194" cy="705194"/>
            </a:xfrm>
            <a:prstGeom prst="rect">
              <a:avLst/>
            </a:prstGeom>
          </p:spPr>
        </p:pic>
        <p:pic>
          <p:nvPicPr>
            <p:cNvPr id="6" name="Graphic 5" descr="Stars with solid fill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8395" y="2392513"/>
              <a:ext cx="705194" cy="705194"/>
            </a:xfrm>
            <a:prstGeom prst="rect">
              <a:avLst/>
            </a:prstGeom>
          </p:spPr>
        </p:pic>
        <p:pic>
          <p:nvPicPr>
            <p:cNvPr id="7" name="Graphic 6" descr="Stars with solid fill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53463" y="2401840"/>
              <a:ext cx="705194" cy="705194"/>
            </a:xfrm>
            <a:prstGeom prst="rect">
              <a:avLst/>
            </a:prstGeom>
          </p:spPr>
        </p:pic>
        <p:pic>
          <p:nvPicPr>
            <p:cNvPr id="8" name="Graphic 7" descr="Stars with solid fill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78531" y="2411167"/>
              <a:ext cx="705194" cy="705194"/>
            </a:xfrm>
            <a:prstGeom prst="rect">
              <a:avLst/>
            </a:prstGeom>
          </p:spPr>
        </p:pic>
        <p:pic>
          <p:nvPicPr>
            <p:cNvPr id="9" name="Graphic 8" descr="Stars with solid fill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03599" y="2420494"/>
              <a:ext cx="705194" cy="70519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8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2000">
                                          <p:cBhvr additive="base">
                                            <p:cTn id="7" dur="4250" fill="hold"/>
                                            <p:tgtEl>
                                              <p:spTgt spid="10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2000">
                                          <p:cBhvr additive="base">
                                            <p:cTn id="8" dur="4250" fill="hold"/>
                                            <p:tgtEl>
                                              <p:spTgt spid="10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0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4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8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22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26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4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4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0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4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8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3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1000" fill="hold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1000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1000" fill="hold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1000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1000" fill="hold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1000" fill="hold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1000" fill="hold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3" dur="1000" fill="hold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1000" fill="hold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1000" fill="hold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1000" fill="hold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1" dur="1000" fill="hold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1000" fill="hold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1000" fill="hold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7" dur="1000" fill="hold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1000" fill="hold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1000" fill="hold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3" dur="1000" fill="hold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1000" fill="hold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9" dur="1000" fill="hold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0" dur="1000" fill="hold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1000" fill="hold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5" dur="1000" fill="hold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1000" fill="hold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7" dur="1000" fill="hold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1000" fill="hold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1000" fill="hold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3" dur="1000" fill="hold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1000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7" dur="1000" fill="hold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8" dur="1000" fill="hold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9" dur="1000" fill="hold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3" dur="1000" fill="hold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4" dur="1000" fill="hold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5" dur="1000" fill="hold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7" fill="hold">
                          <p:stCondLst>
                            <p:cond delay="indefinite"/>
                          </p:stCondLst>
                          <p:childTnLst>
                            <p:par>
                              <p:cTn id="1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9" presetID="3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1" dur="1000" fill="hold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2" dur="1000" fill="hold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3" dur="1000" fill="hold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1000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7" dur="1000" fill="hold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8" dur="1000" fill="hold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9" dur="1000" fill="hold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0" dur="1000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3" dur="1000" fill="hold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4" dur="1000" fill="hold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5" dur="1000" fill="hold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6" dur="1000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9" dur="1000" fill="hold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0" dur="1000" fill="hold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1" dur="1000" fill="hold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2" dur="1000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5" dur="1000" fill="hold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6" dur="1000" fill="hold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7" dur="1000" fill="hold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8" dur="1000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1" dur="1000" fill="hold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2" dur="1000" fill="hold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3" dur="1000" fill="hold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1000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7" dur="1000" fill="hold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8" dur="1000" fill="hold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9" dur="1000" fill="hold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0" dur="1000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3" dur="1000" fill="hold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4" dur="1000" fill="hold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5" dur="1000" fill="hold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6" dur="1000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9" dur="1000" fill="hold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0" dur="1000" fill="hold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1" dur="1000" fill="hold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2" dur="1000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5" dur="1000" fill="hold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6" dur="1000" fill="hold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7" dur="1000" fill="hold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8" dur="1000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1" dur="1000" fill="hold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2" dur="1000" fill="hold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3" dur="1000" fill="hold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4" dur="1000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7" dur="1000" fill="hold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8" dur="1000" fill="hold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9" dur="1000" fill="hold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0" dur="1000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3" dur="1000" fill="hold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4" dur="1000" fill="hold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5" dur="1000" fill="hold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6" dur="1000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9" dur="1000" fill="hold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0" dur="1000" fill="hold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1" dur="1000" fill="hold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2" dur="1000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5" dur="1000" fill="hold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6" dur="1000" fill="hold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7" dur="1000" fill="hold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8" dur="1000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1" dur="1000" fill="hold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2" dur="1000" fill="hold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3" dur="1000" fill="hold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4" dur="1000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7" dur="1000" fill="hold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8" dur="1000" fill="hold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9" dur="1000" fill="hold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0" dur="1000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3" dur="1000" fill="hold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4" dur="1000" fill="hold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5" dur="1000" fill="hold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6" dur="1000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62" grpId="0" build="allAtOnce"/>
          <p:bldP spid="1064" grpId="0" build="allAtOnce"/>
          <p:bldP spid="1065" grpId="0" build="allAtOnce"/>
          <p:bldP spid="1066" grpId="0" build="allAtOnce"/>
          <p:bldP spid="1067" grpId="0" build="allAtOnce"/>
          <p:bldP spid="1068" grpId="0" build="allAtOnce"/>
          <p:bldP spid="1069" grpId="0" build="allAtOnce"/>
          <p:bldP spid="1070" grpId="0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4250" fill="hold"/>
                                            <p:tgtEl>
                                              <p:spTgt spid="10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4250" fill="hold"/>
                                            <p:tgtEl>
                                              <p:spTgt spid="10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0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4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8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22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26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4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4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0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4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38" dur="4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3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1000" fill="hold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1000"/>
                                            <p:tgtEl>
                                              <p:spTgt spid="10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1000" fill="hold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06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1000"/>
                                            <p:tgtEl>
                                              <p:spTgt spid="106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06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1000" fill="hold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06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06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1000" fill="hold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1000" fill="hold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3" dur="1000" fill="hold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106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1000" fill="hold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1000" fill="hold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1000" fill="hold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106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106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0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106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1" dur="1000" fill="hold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1000" fill="hold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1000" fill="hold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106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7" dur="1000" fill="hold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1000" fill="hold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1000" fill="hold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1065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3" dur="1000" fill="hold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1000" fill="hold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1065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9" dur="1000" fill="hold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0" dur="1000" fill="hold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1000" fill="hold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1065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5" dur="1000" fill="hold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1000" fill="hold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7" dur="1000" fill="hold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106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1000" fill="hold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1000" fill="hold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3" dur="1000" fill="hold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1000"/>
                                            <p:tgtEl>
                                              <p:spTgt spid="106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7" dur="1000" fill="hold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8" dur="1000" fill="hold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9" dur="1000" fill="hold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106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3" dur="1000" fill="hold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4" dur="1000" fill="hold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5" dur="1000" fill="hold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106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7" fill="hold">
                          <p:stCondLst>
                            <p:cond delay="indefinite"/>
                          </p:stCondLst>
                          <p:childTnLst>
                            <p:par>
                              <p:cTn id="1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9" presetID="3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1" dur="1000" fill="hold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2" dur="1000" fill="hold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3" dur="1000" fill="hold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1000"/>
                                            <p:tgtEl>
                                              <p:spTgt spid="106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7" dur="1000" fill="hold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8" dur="1000" fill="hold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9" dur="1000" fill="hold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0" dur="1000"/>
                                            <p:tgtEl>
                                              <p:spTgt spid="106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3" dur="1000" fill="hold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4" dur="1000" fill="hold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5" dur="1000" fill="hold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6" dur="1000"/>
                                            <p:tgtEl>
                                              <p:spTgt spid="1067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9" dur="1000" fill="hold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0" dur="1000" fill="hold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1" dur="1000" fill="hold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2" dur="1000"/>
                                            <p:tgtEl>
                                              <p:spTgt spid="10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5" dur="1000" fill="hold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6" dur="1000" fill="hold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7" dur="1000" fill="hold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8" dur="1000"/>
                                            <p:tgtEl>
                                              <p:spTgt spid="106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1" dur="1000" fill="hold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2" dur="1000" fill="hold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3" dur="1000" fill="hold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1000"/>
                                            <p:tgtEl>
                                              <p:spTgt spid="1068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7" dur="1000" fill="hold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8" dur="1000" fill="hold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9" dur="1000" fill="hold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0" dur="1000"/>
                                            <p:tgtEl>
                                              <p:spTgt spid="1068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3" dur="1000" fill="hold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4" dur="1000" fill="hold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5" dur="1000" fill="hold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6" dur="1000"/>
                                            <p:tgtEl>
                                              <p:spTgt spid="1068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9" dur="1000" fill="hold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0" dur="1000" fill="hold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1" dur="1000" fill="hold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2" dur="1000"/>
                                            <p:tgtEl>
                                              <p:spTgt spid="10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5" dur="1000" fill="hold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6" dur="1000" fill="hold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7" dur="1000" fill="hold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8" dur="1000"/>
                                            <p:tgtEl>
                                              <p:spTgt spid="106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1" dur="1000" fill="hold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2" dur="1000" fill="hold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3" dur="1000" fill="hold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4" dur="1000"/>
                                            <p:tgtEl>
                                              <p:spTgt spid="106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7" dur="1000" fill="hold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8" dur="1000" fill="hold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9" dur="1000" fill="hold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0" dur="1000"/>
                                            <p:tgtEl>
                                              <p:spTgt spid="106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3" dur="1000" fill="hold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4" dur="1000" fill="hold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5" dur="1000" fill="hold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6" dur="1000"/>
                                            <p:tgtEl>
                                              <p:spTgt spid="106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9" dur="1000" fill="hold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0" dur="1000" fill="hold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1" dur="1000" fill="hold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2" dur="1000"/>
                                            <p:tgtEl>
                                              <p:spTgt spid="107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3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5" dur="1000" fill="hold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6" dur="1000" fill="hold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7" dur="1000" fill="hold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8" dur="1000"/>
                                            <p:tgtEl>
                                              <p:spTgt spid="107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1" dur="1000" fill="hold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2" dur="1000" fill="hold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3" dur="1000" fill="hold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4" dur="1000"/>
                                            <p:tgtEl>
                                              <p:spTgt spid="1070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7" dur="1000" fill="hold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8" dur="1000" fill="hold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9" dur="1000" fill="hold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0" dur="1000"/>
                                            <p:tgtEl>
                                              <p:spTgt spid="1070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3" dur="1000" fill="hold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4" dur="1000" fill="hold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5" dur="1000" fill="hold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6" dur="1000"/>
                                            <p:tgtEl>
                                              <p:spTgt spid="1070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62" grpId="0" build="allAtOnce"/>
          <p:bldP spid="1064" grpId="0" build="allAtOnce"/>
          <p:bldP spid="1065" grpId="0" build="allAtOnce"/>
          <p:bldP spid="1066" grpId="0" build="allAtOnce"/>
          <p:bldP spid="1067" grpId="0" build="allAtOnce"/>
          <p:bldP spid="1068" grpId="0" build="allAtOnce"/>
          <p:bldP spid="1069" grpId="0" build="allAtOnce"/>
          <p:bldP spid="1070" grpId="0" build="allAtOnce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8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 (1).pngeasy-use_3858639 (1)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8058919" y="250282"/>
            <a:ext cx="367588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800" b="1" dirty="0"/>
              <a:t> : متطلبات أخرى للنظام</a:t>
            </a:r>
            <a:endParaRPr lang="en-US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33CCCC"/>
                </a:gs>
                <a:gs pos="85000">
                  <a:srgbClr val="008080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8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.pngeasy-use_3858639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5676212" y="1280543"/>
            <a:ext cx="4023842" cy="918074"/>
            <a:chOff x="5676212" y="1280543"/>
            <a:chExt cx="4023842" cy="918074"/>
          </a:xfrm>
        </p:grpSpPr>
        <p:sp>
          <p:nvSpPr>
            <p:cNvPr id="99" name="Oval 98"/>
            <p:cNvSpPr/>
            <p:nvPr/>
          </p:nvSpPr>
          <p:spPr>
            <a:xfrm>
              <a:off x="5676212" y="2030220"/>
              <a:ext cx="168397" cy="16839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/>
            <p:cNvCxnSpPr/>
            <p:nvPr/>
          </p:nvCxnSpPr>
          <p:spPr>
            <a:xfrm flipV="1">
              <a:off x="5794218" y="1280543"/>
              <a:ext cx="1330381" cy="812099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114133" y="1285815"/>
              <a:ext cx="2585921" cy="0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7114133" y="3718879"/>
            <a:ext cx="2632591" cy="254057"/>
            <a:chOff x="7114133" y="3718879"/>
            <a:chExt cx="2632591" cy="254057"/>
          </a:xfrm>
        </p:grpSpPr>
        <p:sp>
          <p:nvSpPr>
            <p:cNvPr id="3" name="Rectangle 2"/>
            <p:cNvSpPr/>
            <p:nvPr/>
          </p:nvSpPr>
          <p:spPr>
            <a:xfrm>
              <a:off x="7114133" y="3718879"/>
              <a:ext cx="263259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 rot="20294955">
              <a:off x="8318102" y="3848132"/>
              <a:ext cx="142072" cy="124804"/>
            </a:xfrm>
            <a:prstGeom prst="rect">
              <a:avLst/>
            </a:prstGeom>
            <a:solidFill>
              <a:srgbClr val="00FFFF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20294955">
              <a:off x="8433390" y="3847925"/>
              <a:ext cx="142072" cy="124804"/>
            </a:xfrm>
            <a:prstGeom prst="rect">
              <a:avLst/>
            </a:prstGeom>
            <a:solidFill>
              <a:srgbClr val="CCFF33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rot="20294955">
              <a:off x="8548679" y="3847718"/>
              <a:ext cx="142072" cy="124804"/>
            </a:xfrm>
            <a:prstGeom prst="rect">
              <a:avLst/>
            </a:prstGeom>
            <a:solidFill>
              <a:srgbClr val="CCFF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 rot="20294955">
              <a:off x="8663967" y="3847511"/>
              <a:ext cx="142072" cy="124804"/>
            </a:xfrm>
            <a:prstGeom prst="rect">
              <a:avLst/>
            </a:prstGeom>
            <a:solidFill>
              <a:srgbClr val="FF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 rot="20294955">
              <a:off x="8779255" y="3847304"/>
              <a:ext cx="142072" cy="124804"/>
            </a:xfrm>
            <a:prstGeom prst="rect">
              <a:avLst/>
            </a:prstGeom>
            <a:solidFill>
              <a:srgbClr val="FF9999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20294955">
              <a:off x="8894543" y="3847097"/>
              <a:ext cx="142072" cy="124804"/>
            </a:xfrm>
            <a:prstGeom prst="rect">
              <a:avLst/>
            </a:prstGeom>
            <a:solidFill>
              <a:srgbClr val="99FF66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20294955">
              <a:off x="9009832" y="3846889"/>
              <a:ext cx="142072" cy="124804"/>
            </a:xfrm>
            <a:prstGeom prst="rect">
              <a:avLst/>
            </a:prstGeom>
            <a:solidFill>
              <a:srgbClr val="99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20294955">
              <a:off x="9125120" y="3846682"/>
              <a:ext cx="142072" cy="124804"/>
            </a:xfrm>
            <a:prstGeom prst="rect">
              <a:avLst/>
            </a:prstGeom>
            <a:solidFill>
              <a:srgbClr val="FF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20294955">
              <a:off x="9240408" y="3846475"/>
              <a:ext cx="142072" cy="124804"/>
            </a:xfrm>
            <a:prstGeom prst="rect">
              <a:avLst/>
            </a:prstGeom>
            <a:solidFill>
              <a:srgbClr val="00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20294955">
              <a:off x="9355696" y="3846268"/>
              <a:ext cx="142072" cy="124804"/>
            </a:xfrm>
            <a:prstGeom prst="rect">
              <a:avLst/>
            </a:prstGeom>
            <a:solidFill>
              <a:srgbClr val="33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rot="20294955">
              <a:off x="9470985" y="3846061"/>
              <a:ext cx="142072" cy="124804"/>
            </a:xfrm>
            <a:prstGeom prst="rect">
              <a:avLst/>
            </a:prstGeom>
            <a:solidFill>
              <a:srgbClr val="FF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20294955">
              <a:off x="9586273" y="3845854"/>
              <a:ext cx="142072" cy="124804"/>
            </a:xfrm>
            <a:prstGeom prst="rect">
              <a:avLst/>
            </a:prstGeom>
            <a:solidFill>
              <a:srgbClr val="FF0066">
                <a:alpha val="2549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08"/>
          <p:cNvSpPr txBox="1"/>
          <p:nvPr/>
        </p:nvSpPr>
        <p:spPr>
          <a:xfrm>
            <a:off x="8058920" y="315855"/>
            <a:ext cx="367588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800" b="1" dirty="0"/>
              <a:t>:متطلبات أخرى للنظام </a:t>
            </a:r>
            <a:endParaRPr lang="en-US" altLang="en-US" sz="2800" b="1" dirty="0"/>
          </a:p>
        </p:txBody>
      </p:sp>
      <p:sp>
        <p:nvSpPr>
          <p:cNvPr id="16" name="TextBox 107"/>
          <p:cNvSpPr txBox="1"/>
          <p:nvPr/>
        </p:nvSpPr>
        <p:spPr>
          <a:xfrm>
            <a:off x="7114133" y="911805"/>
            <a:ext cx="2632591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سهولة الاستخدام</a:t>
            </a:r>
            <a:endParaRPr lang="en-US" altLang="en-US" sz="20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12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النظام سهل التعلم سريع الاستخدام خال من الأخطاء ومريح للمستخدم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كيف يتم تحقيق هذه الفكرة؟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تصميم واجهات بديهية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تجنب التعقيد من خلال تقليل عدد الخطوات لإنجاز كل مهمة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تسلسل منطقي للعمليات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2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واجهات بسيطة بعيدة عن التعقيد</a:t>
            </a:r>
            <a:endParaRPr lang="en-US" sz="12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12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 rot="3600000"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33CCCC"/>
                </a:gs>
                <a:gs pos="85000">
                  <a:srgbClr val="008080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.pngeasy-use_3858639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5676212" y="1280543"/>
            <a:ext cx="4023842" cy="918074"/>
            <a:chOff x="5676212" y="1280543"/>
            <a:chExt cx="4023842" cy="918074"/>
          </a:xfrm>
        </p:grpSpPr>
        <p:sp>
          <p:nvSpPr>
            <p:cNvPr id="99" name="Oval 98"/>
            <p:cNvSpPr/>
            <p:nvPr/>
          </p:nvSpPr>
          <p:spPr>
            <a:xfrm>
              <a:off x="5676212" y="2030220"/>
              <a:ext cx="168397" cy="16839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/>
            <p:cNvCxnSpPr/>
            <p:nvPr/>
          </p:nvCxnSpPr>
          <p:spPr>
            <a:xfrm flipV="1">
              <a:off x="5794218" y="1280543"/>
              <a:ext cx="1330381" cy="812099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114133" y="1285815"/>
              <a:ext cx="2585921" cy="0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7114133" y="911805"/>
            <a:ext cx="2632591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الأمان والموثوقية</a:t>
            </a:r>
            <a:endParaRPr lang="en-US" sz="10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 من أهم المتطلبات الغير وظيفية حيث يضمن حماية للبيانات والمستخدمين ويشكل الأمان من الاخترقات والهجمات الإلكترونية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كيف يتم تحقيق هذه الفكرة؟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تشفير البيانات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إخفاء البيانات الحساسة مثل كلمة السر والإيميل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التحكم في الوصول من خلال المصداقية وصلاحيات المستخدمين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14133" y="3718879"/>
            <a:ext cx="2632591" cy="254057"/>
            <a:chOff x="7114133" y="3718879"/>
            <a:chExt cx="2632591" cy="254057"/>
          </a:xfrm>
        </p:grpSpPr>
        <p:sp>
          <p:nvSpPr>
            <p:cNvPr id="3" name="Rectangle 2"/>
            <p:cNvSpPr/>
            <p:nvPr/>
          </p:nvSpPr>
          <p:spPr>
            <a:xfrm>
              <a:off x="7114133" y="3718879"/>
              <a:ext cx="263259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 rot="20294955">
              <a:off x="8318102" y="3848132"/>
              <a:ext cx="142072" cy="124804"/>
            </a:xfrm>
            <a:prstGeom prst="rect">
              <a:avLst/>
            </a:prstGeom>
            <a:solidFill>
              <a:srgbClr val="00FFFF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20294955">
              <a:off x="8433390" y="3847925"/>
              <a:ext cx="142072" cy="124804"/>
            </a:xfrm>
            <a:prstGeom prst="rect">
              <a:avLst/>
            </a:prstGeom>
            <a:solidFill>
              <a:srgbClr val="CCFF33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rot="20294955">
              <a:off x="8548679" y="3847718"/>
              <a:ext cx="142072" cy="124804"/>
            </a:xfrm>
            <a:prstGeom prst="rect">
              <a:avLst/>
            </a:prstGeom>
            <a:solidFill>
              <a:srgbClr val="CCFF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 rot="20294955">
              <a:off x="8663967" y="3847511"/>
              <a:ext cx="142072" cy="124804"/>
            </a:xfrm>
            <a:prstGeom prst="rect">
              <a:avLst/>
            </a:prstGeom>
            <a:solidFill>
              <a:srgbClr val="FF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 rot="20294955">
              <a:off x="8779255" y="3847304"/>
              <a:ext cx="142072" cy="124804"/>
            </a:xfrm>
            <a:prstGeom prst="rect">
              <a:avLst/>
            </a:prstGeom>
            <a:solidFill>
              <a:srgbClr val="FF9999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20294955">
              <a:off x="8894543" y="3847097"/>
              <a:ext cx="142072" cy="124804"/>
            </a:xfrm>
            <a:prstGeom prst="rect">
              <a:avLst/>
            </a:prstGeom>
            <a:solidFill>
              <a:srgbClr val="99FF66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20294955">
              <a:off x="9009832" y="3846889"/>
              <a:ext cx="142072" cy="124804"/>
            </a:xfrm>
            <a:prstGeom prst="rect">
              <a:avLst/>
            </a:prstGeom>
            <a:solidFill>
              <a:srgbClr val="99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20294955">
              <a:off x="9125120" y="3846682"/>
              <a:ext cx="142072" cy="124804"/>
            </a:xfrm>
            <a:prstGeom prst="rect">
              <a:avLst/>
            </a:prstGeom>
            <a:solidFill>
              <a:srgbClr val="FF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20294955">
              <a:off x="9240408" y="3846475"/>
              <a:ext cx="142072" cy="124804"/>
            </a:xfrm>
            <a:prstGeom prst="rect">
              <a:avLst/>
            </a:prstGeom>
            <a:solidFill>
              <a:srgbClr val="00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20294955">
              <a:off x="9355696" y="3846268"/>
              <a:ext cx="142072" cy="124804"/>
            </a:xfrm>
            <a:prstGeom prst="rect">
              <a:avLst/>
            </a:prstGeom>
            <a:solidFill>
              <a:srgbClr val="33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rot="20294955">
              <a:off x="9470985" y="3846061"/>
              <a:ext cx="142072" cy="124804"/>
            </a:xfrm>
            <a:prstGeom prst="rect">
              <a:avLst/>
            </a:prstGeom>
            <a:solidFill>
              <a:srgbClr val="FF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20294955">
              <a:off x="9586273" y="3845854"/>
              <a:ext cx="142072" cy="124804"/>
            </a:xfrm>
            <a:prstGeom prst="rect">
              <a:avLst/>
            </a:prstGeom>
            <a:solidFill>
              <a:srgbClr val="FF0066">
                <a:alpha val="2549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 rot="7200000"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33CCCC"/>
                </a:gs>
                <a:gs pos="85000">
                  <a:srgbClr val="008080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 (1).pngeasy-use_3858639 (1)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5676212" y="1280543"/>
            <a:ext cx="4023842" cy="918074"/>
            <a:chOff x="5676212" y="1280543"/>
            <a:chExt cx="4023842" cy="918074"/>
          </a:xfrm>
        </p:grpSpPr>
        <p:sp>
          <p:nvSpPr>
            <p:cNvPr id="99" name="Oval 98"/>
            <p:cNvSpPr/>
            <p:nvPr/>
          </p:nvSpPr>
          <p:spPr>
            <a:xfrm>
              <a:off x="5676212" y="2030220"/>
              <a:ext cx="168397" cy="16839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/>
            <p:cNvCxnSpPr/>
            <p:nvPr/>
          </p:nvCxnSpPr>
          <p:spPr>
            <a:xfrm flipV="1">
              <a:off x="5794218" y="1280543"/>
              <a:ext cx="1330381" cy="812099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114133" y="1285815"/>
              <a:ext cx="2585921" cy="0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7114133" y="911805"/>
            <a:ext cx="2632591" cy="227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وقت استجابة سريع</a:t>
            </a:r>
            <a:endParaRPr lang="en-US" altLang="en-GB" sz="20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500" dirty="0">
              <a:solidFill>
                <a:schemeClr val="bg1"/>
              </a:solidFill>
            </a:endParaRPr>
          </a:p>
          <a:p>
            <a:pPr algn="ctr"/>
            <a:endParaRPr lang="en-US" sz="5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هو أحد أهم عوامل تجربة المستخدم ويتم تحقيق ذلك من خلال تحسين وقت الاستجابة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كيف يتم تحقيق ذلك؟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تحسين الكود والخوارزميات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تقليل من تعقيد الخوارزميات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تجنب الحلقات المتداخلة الغير ضرورية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تحسين قواعد البيانات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14133" y="3718879"/>
            <a:ext cx="2632591" cy="254057"/>
            <a:chOff x="7114133" y="3718879"/>
            <a:chExt cx="2632591" cy="254057"/>
          </a:xfrm>
        </p:grpSpPr>
        <p:sp>
          <p:nvSpPr>
            <p:cNvPr id="3" name="Rectangle 2"/>
            <p:cNvSpPr/>
            <p:nvPr/>
          </p:nvSpPr>
          <p:spPr>
            <a:xfrm>
              <a:off x="7114133" y="3718879"/>
              <a:ext cx="263259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 rot="20294955">
              <a:off x="8318102" y="3848132"/>
              <a:ext cx="142072" cy="124804"/>
            </a:xfrm>
            <a:prstGeom prst="rect">
              <a:avLst/>
            </a:prstGeom>
            <a:solidFill>
              <a:srgbClr val="00FFFF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20294955">
              <a:off x="8433390" y="3847925"/>
              <a:ext cx="142072" cy="124804"/>
            </a:xfrm>
            <a:prstGeom prst="rect">
              <a:avLst/>
            </a:prstGeom>
            <a:solidFill>
              <a:srgbClr val="CCFF33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rot="20294955">
              <a:off x="8548679" y="3847718"/>
              <a:ext cx="142072" cy="124804"/>
            </a:xfrm>
            <a:prstGeom prst="rect">
              <a:avLst/>
            </a:prstGeom>
            <a:solidFill>
              <a:srgbClr val="CCFF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 rot="20294955">
              <a:off x="8663967" y="3847511"/>
              <a:ext cx="142072" cy="124804"/>
            </a:xfrm>
            <a:prstGeom prst="rect">
              <a:avLst/>
            </a:prstGeom>
            <a:solidFill>
              <a:srgbClr val="FF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 rot="20294955">
              <a:off x="8779255" y="3847304"/>
              <a:ext cx="142072" cy="124804"/>
            </a:xfrm>
            <a:prstGeom prst="rect">
              <a:avLst/>
            </a:prstGeom>
            <a:solidFill>
              <a:srgbClr val="FF9999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20294955">
              <a:off x="8894543" y="3847097"/>
              <a:ext cx="142072" cy="124804"/>
            </a:xfrm>
            <a:prstGeom prst="rect">
              <a:avLst/>
            </a:prstGeom>
            <a:solidFill>
              <a:srgbClr val="99FF66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20294955">
              <a:off x="9009832" y="3846889"/>
              <a:ext cx="142072" cy="124804"/>
            </a:xfrm>
            <a:prstGeom prst="rect">
              <a:avLst/>
            </a:prstGeom>
            <a:solidFill>
              <a:srgbClr val="99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20294955">
              <a:off x="9125120" y="3846682"/>
              <a:ext cx="142072" cy="124804"/>
            </a:xfrm>
            <a:prstGeom prst="rect">
              <a:avLst/>
            </a:prstGeom>
            <a:solidFill>
              <a:srgbClr val="FF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20294955">
              <a:off x="9240408" y="3846475"/>
              <a:ext cx="142072" cy="124804"/>
            </a:xfrm>
            <a:prstGeom prst="rect">
              <a:avLst/>
            </a:prstGeom>
            <a:solidFill>
              <a:srgbClr val="00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20294955">
              <a:off x="9355696" y="3846268"/>
              <a:ext cx="142072" cy="124804"/>
            </a:xfrm>
            <a:prstGeom prst="rect">
              <a:avLst/>
            </a:prstGeom>
            <a:solidFill>
              <a:srgbClr val="33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rot="20294955">
              <a:off x="9470985" y="3846061"/>
              <a:ext cx="142072" cy="124804"/>
            </a:xfrm>
            <a:prstGeom prst="rect">
              <a:avLst/>
            </a:prstGeom>
            <a:solidFill>
              <a:srgbClr val="FF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20294955">
              <a:off x="9586273" y="3845854"/>
              <a:ext cx="142072" cy="124804"/>
            </a:xfrm>
            <a:prstGeom prst="rect">
              <a:avLst/>
            </a:prstGeom>
            <a:solidFill>
              <a:srgbClr val="FF0066">
                <a:alpha val="2549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 rot="10800000"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33CCCC"/>
                </a:gs>
                <a:gs pos="85000">
                  <a:srgbClr val="008080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 (1).pngeasy-use_3858639 (1)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5676212" y="1280543"/>
            <a:ext cx="4023842" cy="918074"/>
            <a:chOff x="5676212" y="1280543"/>
            <a:chExt cx="4023842" cy="918074"/>
          </a:xfrm>
        </p:grpSpPr>
        <p:sp>
          <p:nvSpPr>
            <p:cNvPr id="99" name="Oval 98"/>
            <p:cNvSpPr/>
            <p:nvPr/>
          </p:nvSpPr>
          <p:spPr>
            <a:xfrm>
              <a:off x="5676212" y="2030220"/>
              <a:ext cx="168397" cy="16839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/>
            <p:cNvCxnSpPr/>
            <p:nvPr/>
          </p:nvCxnSpPr>
          <p:spPr>
            <a:xfrm flipV="1">
              <a:off x="5794218" y="1280543"/>
              <a:ext cx="1330381" cy="812099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114133" y="1285815"/>
              <a:ext cx="2585921" cy="0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7114133" y="911805"/>
            <a:ext cx="2632591" cy="298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قابلية الصيانة</a:t>
            </a:r>
            <a:endParaRPr lang="en-US" altLang="en-US" sz="20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تعني سهولة فهم النظام تعديله وتحديثه مع مرور الوقت دون تكاليف باهظة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كيف يتم تحقيق هذه الفكرة؟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تصميم معماري نظري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فصل الطبقات أي تقسيم التطبيق إلى طبقات مستقلة أي إلى واجهات المستخدم طبقة المنطق والوصول إلى البيانات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GB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MVC</a:t>
            </a:r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استخدام نمط </a:t>
            </a:r>
            <a:endParaRPr lang="en-US" alt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بحيث التعديل على طبقة لا يؤثر عغيرها</a:t>
            </a:r>
            <a:endParaRPr 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1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14133" y="3718879"/>
            <a:ext cx="2632591" cy="254057"/>
            <a:chOff x="7114133" y="3718879"/>
            <a:chExt cx="2632591" cy="254057"/>
          </a:xfrm>
        </p:grpSpPr>
        <p:sp>
          <p:nvSpPr>
            <p:cNvPr id="3" name="Rectangle 2"/>
            <p:cNvSpPr/>
            <p:nvPr/>
          </p:nvSpPr>
          <p:spPr>
            <a:xfrm>
              <a:off x="7114133" y="3718879"/>
              <a:ext cx="263259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 rot="20294955">
              <a:off x="8318102" y="3848132"/>
              <a:ext cx="142072" cy="124804"/>
            </a:xfrm>
            <a:prstGeom prst="rect">
              <a:avLst/>
            </a:prstGeom>
            <a:solidFill>
              <a:srgbClr val="00FFFF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20294955">
              <a:off x="8433390" y="3847925"/>
              <a:ext cx="142072" cy="124804"/>
            </a:xfrm>
            <a:prstGeom prst="rect">
              <a:avLst/>
            </a:prstGeom>
            <a:solidFill>
              <a:srgbClr val="CCFF33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rot="20294955">
              <a:off x="8548679" y="3847718"/>
              <a:ext cx="142072" cy="124804"/>
            </a:xfrm>
            <a:prstGeom prst="rect">
              <a:avLst/>
            </a:prstGeom>
            <a:solidFill>
              <a:srgbClr val="CCFF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 rot="20294955">
              <a:off x="8663967" y="3847511"/>
              <a:ext cx="142072" cy="124804"/>
            </a:xfrm>
            <a:prstGeom prst="rect">
              <a:avLst/>
            </a:prstGeom>
            <a:solidFill>
              <a:srgbClr val="FF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 rot="20294955">
              <a:off x="8779255" y="3847304"/>
              <a:ext cx="142072" cy="124804"/>
            </a:xfrm>
            <a:prstGeom prst="rect">
              <a:avLst/>
            </a:prstGeom>
            <a:solidFill>
              <a:srgbClr val="FF9999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20294955">
              <a:off x="8894543" y="3847097"/>
              <a:ext cx="142072" cy="124804"/>
            </a:xfrm>
            <a:prstGeom prst="rect">
              <a:avLst/>
            </a:prstGeom>
            <a:solidFill>
              <a:srgbClr val="99FF66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20294955">
              <a:off x="9009832" y="3846889"/>
              <a:ext cx="142072" cy="124804"/>
            </a:xfrm>
            <a:prstGeom prst="rect">
              <a:avLst/>
            </a:prstGeom>
            <a:solidFill>
              <a:srgbClr val="99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20294955">
              <a:off x="9125120" y="3846682"/>
              <a:ext cx="142072" cy="124804"/>
            </a:xfrm>
            <a:prstGeom prst="rect">
              <a:avLst/>
            </a:prstGeom>
            <a:solidFill>
              <a:srgbClr val="FF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20294955">
              <a:off x="9240408" y="3846475"/>
              <a:ext cx="142072" cy="124804"/>
            </a:xfrm>
            <a:prstGeom prst="rect">
              <a:avLst/>
            </a:prstGeom>
            <a:solidFill>
              <a:srgbClr val="00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20294955">
              <a:off x="9355696" y="3846268"/>
              <a:ext cx="142072" cy="124804"/>
            </a:xfrm>
            <a:prstGeom prst="rect">
              <a:avLst/>
            </a:prstGeom>
            <a:solidFill>
              <a:srgbClr val="33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rot="20294955">
              <a:off x="9470985" y="3846061"/>
              <a:ext cx="142072" cy="124804"/>
            </a:xfrm>
            <a:prstGeom prst="rect">
              <a:avLst/>
            </a:prstGeom>
            <a:solidFill>
              <a:srgbClr val="FF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20294955">
              <a:off x="9586273" y="3845854"/>
              <a:ext cx="142072" cy="124804"/>
            </a:xfrm>
            <a:prstGeom prst="rect">
              <a:avLst/>
            </a:prstGeom>
            <a:solidFill>
              <a:srgbClr val="FF0066">
                <a:alpha val="2549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 rot="14400000"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33CCCC"/>
                </a:gs>
                <a:gs pos="85000">
                  <a:srgbClr val="008080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.pngeasy-use_3858639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5676212" y="1280543"/>
            <a:ext cx="4023842" cy="918074"/>
            <a:chOff x="5676212" y="1280543"/>
            <a:chExt cx="4023842" cy="918074"/>
          </a:xfrm>
        </p:grpSpPr>
        <p:sp>
          <p:nvSpPr>
            <p:cNvPr id="99" name="Oval 98"/>
            <p:cNvSpPr/>
            <p:nvPr/>
          </p:nvSpPr>
          <p:spPr>
            <a:xfrm>
              <a:off x="5676212" y="2030220"/>
              <a:ext cx="168397" cy="16839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/>
            <p:cNvCxnSpPr/>
            <p:nvPr/>
          </p:nvCxnSpPr>
          <p:spPr>
            <a:xfrm flipV="1">
              <a:off x="5794218" y="1280543"/>
              <a:ext cx="1330381" cy="812099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114133" y="1285815"/>
              <a:ext cx="2585921" cy="0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7114133" y="911805"/>
            <a:ext cx="263259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</a:rPr>
              <a:t>التوافقية</a:t>
            </a:r>
            <a:endParaRPr lang="en-US" sz="24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قدرة النظام أو التطبيق على العمل بشكل صحيح على أجهزة ومتصفحات النظام وأنظمة التشغيل المختلفة دون أخطاء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كيف يتم التحقق من هذه الفكرة؟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اختبار عمل التطبيق والتأكد من عمله على جميع المتصفحات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اختبار التطبيق على أغلب أنظمة التشغيل المختلفة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14133" y="3719974"/>
            <a:ext cx="2632591" cy="254057"/>
            <a:chOff x="7114133" y="3718879"/>
            <a:chExt cx="2632591" cy="254057"/>
          </a:xfrm>
        </p:grpSpPr>
        <p:sp>
          <p:nvSpPr>
            <p:cNvPr id="3" name="Rectangle 2"/>
            <p:cNvSpPr/>
            <p:nvPr/>
          </p:nvSpPr>
          <p:spPr>
            <a:xfrm>
              <a:off x="7114133" y="3718879"/>
              <a:ext cx="263259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 rot="20294955">
              <a:off x="8318102" y="3848132"/>
              <a:ext cx="142072" cy="124804"/>
            </a:xfrm>
            <a:prstGeom prst="rect">
              <a:avLst/>
            </a:prstGeom>
            <a:solidFill>
              <a:srgbClr val="00FFFF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 rot="20294955">
              <a:off x="8433390" y="3847925"/>
              <a:ext cx="142072" cy="124804"/>
            </a:xfrm>
            <a:prstGeom prst="rect">
              <a:avLst/>
            </a:prstGeom>
            <a:solidFill>
              <a:srgbClr val="CCFF33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20294955">
              <a:off x="8548679" y="3847718"/>
              <a:ext cx="142072" cy="124804"/>
            </a:xfrm>
            <a:prstGeom prst="rect">
              <a:avLst/>
            </a:prstGeom>
            <a:solidFill>
              <a:srgbClr val="CCFF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20294955">
              <a:off x="8663967" y="3847511"/>
              <a:ext cx="142072" cy="124804"/>
            </a:xfrm>
            <a:prstGeom prst="rect">
              <a:avLst/>
            </a:prstGeom>
            <a:solidFill>
              <a:srgbClr val="FF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20294955">
              <a:off x="8779255" y="3847304"/>
              <a:ext cx="142072" cy="124804"/>
            </a:xfrm>
            <a:prstGeom prst="rect">
              <a:avLst/>
            </a:prstGeom>
            <a:solidFill>
              <a:srgbClr val="FF9999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 rot="20294955">
              <a:off x="8894543" y="3847097"/>
              <a:ext cx="142072" cy="124804"/>
            </a:xfrm>
            <a:prstGeom prst="rect">
              <a:avLst/>
            </a:prstGeom>
            <a:solidFill>
              <a:srgbClr val="99FF66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20294955">
              <a:off x="9009832" y="3846889"/>
              <a:ext cx="142072" cy="124804"/>
            </a:xfrm>
            <a:prstGeom prst="rect">
              <a:avLst/>
            </a:prstGeom>
            <a:solidFill>
              <a:srgbClr val="99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20294955">
              <a:off x="9125120" y="3846682"/>
              <a:ext cx="142072" cy="124804"/>
            </a:xfrm>
            <a:prstGeom prst="rect">
              <a:avLst/>
            </a:prstGeom>
            <a:solidFill>
              <a:srgbClr val="FF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20294955">
              <a:off x="9240408" y="3846475"/>
              <a:ext cx="142072" cy="124804"/>
            </a:xfrm>
            <a:prstGeom prst="rect">
              <a:avLst/>
            </a:prstGeom>
            <a:solidFill>
              <a:srgbClr val="00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20294955">
              <a:off x="9355696" y="3846268"/>
              <a:ext cx="142072" cy="124804"/>
            </a:xfrm>
            <a:prstGeom prst="rect">
              <a:avLst/>
            </a:prstGeom>
            <a:solidFill>
              <a:srgbClr val="33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20294955">
              <a:off x="9470985" y="3846061"/>
              <a:ext cx="142072" cy="124804"/>
            </a:xfrm>
            <a:prstGeom prst="rect">
              <a:avLst/>
            </a:prstGeom>
            <a:solidFill>
              <a:srgbClr val="FF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20294955">
              <a:off x="9586273" y="3845854"/>
              <a:ext cx="142072" cy="124804"/>
            </a:xfrm>
            <a:prstGeom prst="rect">
              <a:avLst/>
            </a:prstGeom>
            <a:solidFill>
              <a:srgbClr val="FF0066">
                <a:alpha val="2549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 rot="18000000">
            <a:off x="1291370" y="718377"/>
            <a:ext cx="4968683" cy="5348084"/>
            <a:chOff x="1291370" y="718377"/>
            <a:chExt cx="4968683" cy="5348084"/>
          </a:xfrm>
        </p:grpSpPr>
        <p:sp>
          <p:nvSpPr>
            <p:cNvPr id="74" name="Freeform: Shape 73"/>
            <p:cNvSpPr/>
            <p:nvPr/>
          </p:nvSpPr>
          <p:spPr>
            <a:xfrm rot="1800000">
              <a:off x="4272719" y="1737996"/>
              <a:ext cx="1959782" cy="2263738"/>
            </a:xfrm>
            <a:custGeom>
              <a:avLst/>
              <a:gdLst>
                <a:gd name="connsiteX0" fmla="*/ 0 w 1959782"/>
                <a:gd name="connsiteY0" fmla="*/ 0 h 2263738"/>
                <a:gd name="connsiteX1" fmla="*/ 202015 w 1959782"/>
                <a:gd name="connsiteY1" fmla="*/ 10201 h 2263738"/>
                <a:gd name="connsiteX2" fmla="*/ 1894339 w 1959782"/>
                <a:gd name="connsiteY2" fmla="*/ 1024535 h 2263738"/>
                <a:gd name="connsiteX3" fmla="*/ 1959782 w 1959782"/>
                <a:gd name="connsiteY3" fmla="*/ 1132258 h 2263738"/>
                <a:gd name="connsiteX4" fmla="*/ 0 w 1959782"/>
                <a:gd name="connsiteY4" fmla="*/ 2263738 h 2263738"/>
                <a:gd name="connsiteX5" fmla="*/ 0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0" y="0"/>
                  </a:moveTo>
                  <a:lnTo>
                    <a:pt x="202015" y="10201"/>
                  </a:lnTo>
                  <a:cubicBezTo>
                    <a:pt x="906333" y="81728"/>
                    <a:pt x="1517832" y="467230"/>
                    <a:pt x="1894339" y="1024535"/>
                  </a:cubicBezTo>
                  <a:lnTo>
                    <a:pt x="1959782" y="1132258"/>
                  </a:lnTo>
                  <a:lnTo>
                    <a:pt x="0" y="22637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 rot="1800000">
              <a:off x="2499226" y="718377"/>
              <a:ext cx="1969130" cy="2284523"/>
            </a:xfrm>
            <a:custGeom>
              <a:avLst/>
              <a:gdLst>
                <a:gd name="connsiteX0" fmla="*/ 1969130 w 1969130"/>
                <a:gd name="connsiteY0" fmla="*/ 0 h 2284523"/>
                <a:gd name="connsiteX1" fmla="*/ 1969130 w 1969130"/>
                <a:gd name="connsiteY1" fmla="*/ 2284523 h 2284523"/>
                <a:gd name="connsiteX2" fmla="*/ 0 w 1969130"/>
                <a:gd name="connsiteY2" fmla="*/ 1147645 h 2284523"/>
                <a:gd name="connsiteX3" fmla="*/ 74791 w 1969130"/>
                <a:gd name="connsiteY3" fmla="*/ 1024535 h 2284523"/>
                <a:gd name="connsiteX4" fmla="*/ 1767115 w 1969130"/>
                <a:gd name="connsiteY4" fmla="*/ 10201 h 2284523"/>
                <a:gd name="connsiteX5" fmla="*/ 1969130 w 1969130"/>
                <a:gd name="connsiteY5" fmla="*/ 0 h 22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9130" h="2284523">
                  <a:moveTo>
                    <a:pt x="1969130" y="0"/>
                  </a:moveTo>
                  <a:lnTo>
                    <a:pt x="1969130" y="2284523"/>
                  </a:lnTo>
                  <a:lnTo>
                    <a:pt x="0" y="1147645"/>
                  </a:lnTo>
                  <a:lnTo>
                    <a:pt x="74791" y="1024535"/>
                  </a:lnTo>
                  <a:cubicBezTo>
                    <a:pt x="451299" y="467230"/>
                    <a:pt x="1062797" y="81728"/>
                    <a:pt x="1767115" y="10201"/>
                  </a:cubicBezTo>
                  <a:lnTo>
                    <a:pt x="196913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/>
          </p:nvSpPr>
          <p:spPr>
            <a:xfrm rot="1800000">
              <a:off x="3666306" y="2858311"/>
              <a:ext cx="2273910" cy="2279957"/>
            </a:xfrm>
            <a:custGeom>
              <a:avLst/>
              <a:gdLst>
                <a:gd name="connsiteX0" fmla="*/ 1979175 w 2273910"/>
                <a:gd name="connsiteY0" fmla="*/ 0 h 2279957"/>
                <a:gd name="connsiteX1" fmla="*/ 1992944 w 2273910"/>
                <a:gd name="connsiteY1" fmla="*/ 22664 h 2279957"/>
                <a:gd name="connsiteX2" fmla="*/ 2273910 w 2273910"/>
                <a:gd name="connsiteY2" fmla="*/ 1132284 h 2279957"/>
                <a:gd name="connsiteX3" fmla="*/ 1992944 w 2273910"/>
                <a:gd name="connsiteY3" fmla="*/ 2241904 h 2279957"/>
                <a:gd name="connsiteX4" fmla="*/ 1969827 w 2273910"/>
                <a:gd name="connsiteY4" fmla="*/ 2279957 h 2279957"/>
                <a:gd name="connsiteX5" fmla="*/ 0 w 2273910"/>
                <a:gd name="connsiteY5" fmla="*/ 1142677 h 2279957"/>
                <a:gd name="connsiteX6" fmla="*/ 1979175 w 2273910"/>
                <a:gd name="connsiteY6" fmla="*/ 0 h 227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3910" h="2279957">
                  <a:moveTo>
                    <a:pt x="1979175" y="0"/>
                  </a:moveTo>
                  <a:lnTo>
                    <a:pt x="1992944" y="22664"/>
                  </a:lnTo>
                  <a:cubicBezTo>
                    <a:pt x="2172129" y="352513"/>
                    <a:pt x="2273910" y="730513"/>
                    <a:pt x="2273910" y="1132284"/>
                  </a:cubicBezTo>
                  <a:cubicBezTo>
                    <a:pt x="2273910" y="1534056"/>
                    <a:pt x="2172129" y="1912055"/>
                    <a:pt x="1992944" y="2241904"/>
                  </a:cubicBezTo>
                  <a:lnTo>
                    <a:pt x="1969827" y="2279957"/>
                  </a:lnTo>
                  <a:lnTo>
                    <a:pt x="0" y="1142677"/>
                  </a:lnTo>
                  <a:lnTo>
                    <a:pt x="1979175" y="0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33CCCC"/>
                </a:gs>
                <a:gs pos="85000">
                  <a:srgbClr val="008080"/>
                </a:gs>
              </a:gsLst>
              <a:lin ang="11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/>
          </p:nvSpPr>
          <p:spPr>
            <a:xfrm rot="1800000">
              <a:off x="1605924" y="1673742"/>
              <a:ext cx="2237910" cy="2249182"/>
            </a:xfrm>
            <a:custGeom>
              <a:avLst/>
              <a:gdLst>
                <a:gd name="connsiteX0" fmla="*/ 285387 w 2237910"/>
                <a:gd name="connsiteY0" fmla="*/ 0 h 2249182"/>
                <a:gd name="connsiteX1" fmla="*/ 2237910 w 2237910"/>
                <a:gd name="connsiteY1" fmla="*/ 1127290 h 2249182"/>
                <a:gd name="connsiteX2" fmla="*/ 294735 w 2237910"/>
                <a:gd name="connsiteY2" fmla="*/ 2249182 h 2249182"/>
                <a:gd name="connsiteX3" fmla="*/ 280966 w 2237910"/>
                <a:gd name="connsiteY3" fmla="*/ 2226517 h 2249182"/>
                <a:gd name="connsiteX4" fmla="*/ 0 w 2237910"/>
                <a:gd name="connsiteY4" fmla="*/ 1116897 h 2249182"/>
                <a:gd name="connsiteX5" fmla="*/ 280966 w 2237910"/>
                <a:gd name="connsiteY5" fmla="*/ 7277 h 2249182"/>
                <a:gd name="connsiteX6" fmla="*/ 285387 w 2237910"/>
                <a:gd name="connsiteY6" fmla="*/ 0 h 224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910" h="2249182">
                  <a:moveTo>
                    <a:pt x="285387" y="0"/>
                  </a:moveTo>
                  <a:lnTo>
                    <a:pt x="2237910" y="1127290"/>
                  </a:lnTo>
                  <a:lnTo>
                    <a:pt x="294735" y="2249182"/>
                  </a:lnTo>
                  <a:lnTo>
                    <a:pt x="280966" y="2226517"/>
                  </a:lnTo>
                  <a:cubicBezTo>
                    <a:pt x="101781" y="1896668"/>
                    <a:pt x="0" y="1518669"/>
                    <a:pt x="0" y="1116897"/>
                  </a:cubicBezTo>
                  <a:cubicBezTo>
                    <a:pt x="0" y="715126"/>
                    <a:pt x="101781" y="337126"/>
                    <a:pt x="280966" y="7277"/>
                  </a:cubicBezTo>
                  <a:lnTo>
                    <a:pt x="285387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/>
            <p:cNvSpPr/>
            <p:nvPr/>
          </p:nvSpPr>
          <p:spPr>
            <a:xfrm rot="1800000">
              <a:off x="1318921" y="2790560"/>
              <a:ext cx="1959782" cy="2263738"/>
            </a:xfrm>
            <a:custGeom>
              <a:avLst/>
              <a:gdLst>
                <a:gd name="connsiteX0" fmla="*/ 1959782 w 1959782"/>
                <a:gd name="connsiteY0" fmla="*/ 0 h 2263738"/>
                <a:gd name="connsiteX1" fmla="*/ 1959782 w 1959782"/>
                <a:gd name="connsiteY1" fmla="*/ 2263738 h 2263738"/>
                <a:gd name="connsiteX2" fmla="*/ 1757767 w 1959782"/>
                <a:gd name="connsiteY2" fmla="*/ 2253537 h 2263738"/>
                <a:gd name="connsiteX3" fmla="*/ 65443 w 1959782"/>
                <a:gd name="connsiteY3" fmla="*/ 1239203 h 2263738"/>
                <a:gd name="connsiteX4" fmla="*/ 0 w 1959782"/>
                <a:gd name="connsiteY4" fmla="*/ 1131481 h 2263738"/>
                <a:gd name="connsiteX5" fmla="*/ 1959782 w 1959782"/>
                <a:gd name="connsiteY5" fmla="*/ 0 h 226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782" h="2263738">
                  <a:moveTo>
                    <a:pt x="1959782" y="0"/>
                  </a:moveTo>
                  <a:lnTo>
                    <a:pt x="1959782" y="2263738"/>
                  </a:lnTo>
                  <a:lnTo>
                    <a:pt x="1757767" y="2253537"/>
                  </a:lnTo>
                  <a:cubicBezTo>
                    <a:pt x="1053449" y="2182010"/>
                    <a:pt x="441951" y="1796508"/>
                    <a:pt x="65443" y="1239203"/>
                  </a:cubicBezTo>
                  <a:lnTo>
                    <a:pt x="0" y="1131481"/>
                  </a:lnTo>
                  <a:lnTo>
                    <a:pt x="1959782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 rot="1800000">
              <a:off x="3073926" y="3823508"/>
              <a:ext cx="1950434" cy="2242953"/>
            </a:xfrm>
            <a:custGeom>
              <a:avLst/>
              <a:gdLst>
                <a:gd name="connsiteX0" fmla="*/ 0 w 1950434"/>
                <a:gd name="connsiteY0" fmla="*/ 0 h 2242953"/>
                <a:gd name="connsiteX1" fmla="*/ 1950434 w 1950434"/>
                <a:gd name="connsiteY1" fmla="*/ 1126084 h 2242953"/>
                <a:gd name="connsiteX2" fmla="*/ 1894339 w 1950434"/>
                <a:gd name="connsiteY2" fmla="*/ 1218418 h 2242953"/>
                <a:gd name="connsiteX3" fmla="*/ 202015 w 1950434"/>
                <a:gd name="connsiteY3" fmla="*/ 2232752 h 2242953"/>
                <a:gd name="connsiteX4" fmla="*/ 0 w 1950434"/>
                <a:gd name="connsiteY4" fmla="*/ 2242953 h 2242953"/>
                <a:gd name="connsiteX5" fmla="*/ 0 w 1950434"/>
                <a:gd name="connsiteY5" fmla="*/ 0 h 224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0434" h="2242953">
                  <a:moveTo>
                    <a:pt x="0" y="0"/>
                  </a:moveTo>
                  <a:lnTo>
                    <a:pt x="1950434" y="1126084"/>
                  </a:lnTo>
                  <a:lnTo>
                    <a:pt x="1894339" y="1218418"/>
                  </a:lnTo>
                  <a:cubicBezTo>
                    <a:pt x="1517832" y="1775723"/>
                    <a:pt x="906333" y="2161225"/>
                    <a:pt x="202015" y="2232752"/>
                  </a:cubicBezTo>
                  <a:lnTo>
                    <a:pt x="0" y="224295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</a:schemeClr>
                </a:gs>
                <a:gs pos="100000">
                  <a:schemeClr val="tx1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Circle: Hollow 80"/>
            <p:cNvSpPr/>
            <p:nvPr/>
          </p:nvSpPr>
          <p:spPr>
            <a:xfrm>
              <a:off x="1291370" y="911805"/>
              <a:ext cx="4968683" cy="4968683"/>
            </a:xfrm>
            <a:prstGeom prst="donut">
              <a:avLst>
                <a:gd name="adj" fmla="val 3148"/>
              </a:avLst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3" name="Graphic 82" descr="C:\Users\MAJD_DAKHOUL\Downloads\autism_4219243.pngautism_4219243"/>
            <p:cNvPicPr>
              <a:picLocks noChangeAspect="1"/>
            </p:cNvPicPr>
            <p:nvPr/>
          </p:nvPicPr>
          <p:blipFill>
            <a:blip r:embed="rId1"/>
            <a:srcRect t="17" b="17"/>
            <a:stretch>
              <a:fillRect/>
            </a:stretch>
          </p:blipFill>
          <p:spPr>
            <a:xfrm>
              <a:off x="3465833" y="4716768"/>
              <a:ext cx="538029" cy="538029"/>
            </a:xfrm>
            <a:prstGeom prst="rect">
              <a:avLst/>
            </a:prstGeom>
          </p:spPr>
        </p:pic>
        <p:pic>
          <p:nvPicPr>
            <p:cNvPr id="85" name="Graphic 84" descr="C:\Users\MAJD_DAKHOUL\Downloads\time-management_3842496.pngtime-management_3842496"/>
            <p:cNvPicPr>
              <a:picLocks noChangeAspect="1"/>
            </p:cNvPicPr>
            <p:nvPr/>
          </p:nvPicPr>
          <p:blipFill>
            <a:blip r:embed="rId2"/>
            <a:srcRect t="17" b="17"/>
            <a:stretch>
              <a:fillRect/>
            </a:stretch>
          </p:blipFill>
          <p:spPr>
            <a:xfrm>
              <a:off x="4942821" y="3938713"/>
              <a:ext cx="538029" cy="538029"/>
            </a:xfrm>
            <a:prstGeom prst="rect">
              <a:avLst/>
            </a:prstGeom>
          </p:spPr>
        </p:pic>
        <p:pic>
          <p:nvPicPr>
            <p:cNvPr id="87" name="Graphic 86" descr="C:\Users\MAJD_DAKHOUL\Downloads\easy-use_3858639 (1).pngeasy-use_3858639 (1)"/>
            <p:cNvPicPr>
              <a:picLocks noChangeAspect="1"/>
            </p:cNvPicPr>
            <p:nvPr/>
          </p:nvPicPr>
          <p:blipFill>
            <a:blip r:embed="rId3"/>
            <a:srcRect t="17" b="17"/>
            <a:stretch>
              <a:fillRect/>
            </a:stretch>
          </p:blipFill>
          <p:spPr>
            <a:xfrm>
              <a:off x="4942822" y="2260304"/>
              <a:ext cx="538029" cy="538029"/>
            </a:xfrm>
            <a:prstGeom prst="rect">
              <a:avLst/>
            </a:prstGeom>
          </p:spPr>
        </p:pic>
        <p:pic>
          <p:nvPicPr>
            <p:cNvPr id="89" name="Graphic 88" descr="C:\Users\MAJD_DAKHOUL\Downloads\auth.pngauth"/>
            <p:cNvPicPr>
              <a:picLocks noChangeAspect="1"/>
            </p:cNvPicPr>
            <p:nvPr/>
          </p:nvPicPr>
          <p:blipFill>
            <a:blip r:embed="rId4"/>
            <a:srcRect t="17" b="17"/>
            <a:stretch>
              <a:fillRect/>
            </a:stretch>
          </p:blipFill>
          <p:spPr>
            <a:xfrm>
              <a:off x="3465833" y="1391389"/>
              <a:ext cx="538029" cy="538029"/>
            </a:xfrm>
            <a:prstGeom prst="rect">
              <a:avLst/>
            </a:prstGeom>
          </p:spPr>
        </p:pic>
        <p:pic>
          <p:nvPicPr>
            <p:cNvPr id="91" name="Graphic 90" descr="C:\Users\MAJD_DAKHOUL\Downloads\قابلية صيانه.pngقابلية صيانه"/>
            <p:cNvPicPr>
              <a:picLocks noChangeAspect="1"/>
            </p:cNvPicPr>
            <p:nvPr/>
          </p:nvPicPr>
          <p:blipFill>
            <a:blip r:embed="rId5"/>
            <a:srcRect t="17" b="17"/>
            <a:stretch>
              <a:fillRect/>
            </a:stretch>
          </p:blipFill>
          <p:spPr>
            <a:xfrm>
              <a:off x="2027041" y="3938713"/>
              <a:ext cx="538029" cy="538029"/>
            </a:xfrm>
            <a:prstGeom prst="rect">
              <a:avLst/>
            </a:prstGeom>
          </p:spPr>
        </p:pic>
        <p:pic>
          <p:nvPicPr>
            <p:cNvPr id="93" name="Graphic 92" descr="C:\Users\MAJD_DAKHOUL\Downloads\countdown_10248491.pngcountdown_10248491"/>
            <p:cNvPicPr>
              <a:picLocks noChangeAspect="1"/>
            </p:cNvPicPr>
            <p:nvPr/>
          </p:nvPicPr>
          <p:blipFill>
            <a:blip r:embed="rId6"/>
            <a:srcRect t="17" b="17"/>
            <a:stretch>
              <a:fillRect/>
            </a:stretch>
          </p:blipFill>
          <p:spPr>
            <a:xfrm>
              <a:off x="2024007" y="2275022"/>
              <a:ext cx="538029" cy="538029"/>
            </a:xfrm>
            <a:prstGeom prst="rect">
              <a:avLst/>
            </a:prstGeom>
          </p:spPr>
        </p:pic>
      </p:grpSp>
      <p:sp>
        <p:nvSpPr>
          <p:cNvPr id="96" name="Oval 95"/>
          <p:cNvSpPr/>
          <p:nvPr/>
        </p:nvSpPr>
        <p:spPr>
          <a:xfrm>
            <a:off x="3188620" y="2842667"/>
            <a:ext cx="1092454" cy="1092454"/>
          </a:xfrm>
          <a:prstGeom prst="ellipse">
            <a:avLst/>
          </a:prstGeom>
          <a:gradFill flip="none" rotWithShape="1">
            <a:gsLst>
              <a:gs pos="14000">
                <a:schemeClr val="bg2">
                  <a:lumMod val="5000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7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5676212" y="1280543"/>
            <a:ext cx="4023842" cy="918074"/>
            <a:chOff x="5676212" y="1280543"/>
            <a:chExt cx="4023842" cy="918074"/>
          </a:xfrm>
        </p:grpSpPr>
        <p:sp>
          <p:nvSpPr>
            <p:cNvPr id="99" name="Oval 98"/>
            <p:cNvSpPr/>
            <p:nvPr/>
          </p:nvSpPr>
          <p:spPr>
            <a:xfrm>
              <a:off x="5676212" y="2030220"/>
              <a:ext cx="168397" cy="16839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/>
            <p:cNvCxnSpPr/>
            <p:nvPr/>
          </p:nvCxnSpPr>
          <p:spPr>
            <a:xfrm flipV="1">
              <a:off x="5794218" y="1280543"/>
              <a:ext cx="1330381" cy="812099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114133" y="1285815"/>
              <a:ext cx="2585921" cy="0"/>
            </a:xfrm>
            <a:prstGeom prst="line">
              <a:avLst/>
            </a:prstGeom>
            <a:ln w="381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7113905" y="911860"/>
            <a:ext cx="2776220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 dirty="0">
                <a:solidFill>
                  <a:schemeClr val="bg1"/>
                </a:solidFill>
                <a:latin typeface="Roboto" panose="02000000000000000000" pitchFamily="2" charset="0"/>
              </a:rPr>
              <a:t>تعديل وتحسين النظام بشكل دوري</a:t>
            </a:r>
            <a:endParaRPr lang="en-US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تعني تحديث النظام ومراجعته بانتظام لضمان فعاليته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كيف يتم التحقق من هذه الفكرة؟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تحديد أهداف المراجعة من خلال: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جمع المعلومات والبيانيات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تحليل البيانات واستخلاص النتائج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اقتراح التعديلات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تنفيذ التغيرات</a:t>
            </a:r>
            <a:endParaRPr lang="en-US" altLang="en-US" sz="1400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التوثيق والمتابعة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14133" y="3718879"/>
            <a:ext cx="2632591" cy="254057"/>
            <a:chOff x="7114133" y="3718879"/>
            <a:chExt cx="2632591" cy="254057"/>
          </a:xfrm>
        </p:grpSpPr>
        <p:sp>
          <p:nvSpPr>
            <p:cNvPr id="3" name="Rectangle 2"/>
            <p:cNvSpPr/>
            <p:nvPr/>
          </p:nvSpPr>
          <p:spPr>
            <a:xfrm>
              <a:off x="7114133" y="3718879"/>
              <a:ext cx="263259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 rot="20294955">
              <a:off x="8318102" y="3848132"/>
              <a:ext cx="142072" cy="124804"/>
            </a:xfrm>
            <a:prstGeom prst="rect">
              <a:avLst/>
            </a:prstGeom>
            <a:solidFill>
              <a:srgbClr val="00FFFF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20294955">
              <a:off x="8433390" y="3847925"/>
              <a:ext cx="142072" cy="124804"/>
            </a:xfrm>
            <a:prstGeom prst="rect">
              <a:avLst/>
            </a:prstGeom>
            <a:solidFill>
              <a:srgbClr val="CCFF33">
                <a:alpha val="2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rot="20294955">
              <a:off x="8548679" y="3847718"/>
              <a:ext cx="142072" cy="124804"/>
            </a:xfrm>
            <a:prstGeom prst="rect">
              <a:avLst/>
            </a:prstGeom>
            <a:solidFill>
              <a:srgbClr val="CCFF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 rot="20294955">
              <a:off x="8663967" y="3847511"/>
              <a:ext cx="142072" cy="124804"/>
            </a:xfrm>
            <a:prstGeom prst="rect">
              <a:avLst/>
            </a:prstGeom>
            <a:solidFill>
              <a:srgbClr val="FF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 rot="20294955">
              <a:off x="8779255" y="3847304"/>
              <a:ext cx="142072" cy="124804"/>
            </a:xfrm>
            <a:prstGeom prst="rect">
              <a:avLst/>
            </a:prstGeom>
            <a:solidFill>
              <a:srgbClr val="FF9999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20294955">
              <a:off x="8894543" y="3847097"/>
              <a:ext cx="142072" cy="124804"/>
            </a:xfrm>
            <a:prstGeom prst="rect">
              <a:avLst/>
            </a:prstGeom>
            <a:solidFill>
              <a:srgbClr val="99FF66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20294955">
              <a:off x="9009832" y="3846889"/>
              <a:ext cx="142072" cy="124804"/>
            </a:xfrm>
            <a:prstGeom prst="rect">
              <a:avLst/>
            </a:prstGeom>
            <a:solidFill>
              <a:srgbClr val="99CC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20294955">
              <a:off x="9125120" y="3846682"/>
              <a:ext cx="142072" cy="124804"/>
            </a:xfrm>
            <a:prstGeom prst="rect">
              <a:avLst/>
            </a:prstGeom>
            <a:solidFill>
              <a:srgbClr val="FF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20294955">
              <a:off x="9240408" y="3846475"/>
              <a:ext cx="142072" cy="124804"/>
            </a:xfrm>
            <a:prstGeom prst="rect">
              <a:avLst/>
            </a:prstGeom>
            <a:solidFill>
              <a:srgbClr val="00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20294955">
              <a:off x="9355696" y="3846268"/>
              <a:ext cx="142072" cy="124804"/>
            </a:xfrm>
            <a:prstGeom prst="rect">
              <a:avLst/>
            </a:prstGeom>
            <a:solidFill>
              <a:srgbClr val="3366FF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rot="20294955">
              <a:off x="9470985" y="3846061"/>
              <a:ext cx="142072" cy="124804"/>
            </a:xfrm>
            <a:prstGeom prst="rect">
              <a:avLst/>
            </a:prstGeom>
            <a:solidFill>
              <a:srgbClr val="FFFF00">
                <a:alpha val="2588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20294955">
              <a:off x="9586273" y="3845854"/>
              <a:ext cx="142072" cy="124804"/>
            </a:xfrm>
            <a:prstGeom prst="rect">
              <a:avLst/>
            </a:prstGeom>
            <a:solidFill>
              <a:srgbClr val="FF0066">
                <a:alpha val="2549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70"/>
          <p:cNvSpPr txBox="1"/>
          <p:nvPr/>
        </p:nvSpPr>
        <p:spPr>
          <a:xfrm>
            <a:off x="8757511" y="336611"/>
            <a:ext cx="4111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2800" b="1" dirty="0">
                <a:solidFill>
                  <a:schemeClr val="bg1"/>
                </a:solidFill>
              </a:rPr>
              <a:t>مخطط قاعدة البيانات</a:t>
            </a:r>
            <a:r>
              <a:rPr lang="ar-SY" altLang="en-US" sz="2800" b="1" dirty="0">
                <a:solidFill>
                  <a:schemeClr val="bg1"/>
                </a:solidFill>
              </a:rPr>
              <a:t> </a:t>
            </a:r>
            <a:endParaRPr lang="en-US" alt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</a:rPr>
              <a:t>“ERD”</a:t>
            </a:r>
            <a:endParaRPr lang="en-US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05" y="97971"/>
            <a:ext cx="8780710" cy="6662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70"/>
          <p:cNvSpPr txBox="1"/>
          <p:nvPr/>
        </p:nvSpPr>
        <p:spPr>
          <a:xfrm>
            <a:off x="8305288" y="275201"/>
            <a:ext cx="4111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2400" b="1" dirty="0">
                <a:solidFill>
                  <a:schemeClr val="bg1"/>
                </a:solidFill>
              </a:rPr>
              <a:t>مخطط </a:t>
            </a:r>
            <a:r>
              <a:rPr lang="ar-SY" altLang="en-US" sz="2800" b="1" dirty="0">
                <a:solidFill>
                  <a:schemeClr val="bg1"/>
                </a:solidFill>
              </a:rPr>
              <a:t>الصفوف</a:t>
            </a:r>
            <a:r>
              <a:rPr lang="ar-SY" altLang="en-US" sz="2400" b="1" dirty="0">
                <a:solidFill>
                  <a:schemeClr val="bg1"/>
                </a:solidFill>
              </a:rPr>
              <a:t> 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201"/>
            <a:ext cx="9388929" cy="6307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29551" y="285352"/>
            <a:ext cx="26155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Y" sz="2800" dirty="0">
                <a:solidFill>
                  <a:schemeClr val="bg1"/>
                </a:solidFill>
              </a:rPr>
              <a:t>خطة تقسيم العمل :</a:t>
            </a:r>
            <a:endParaRPr lang="en-US" sz="28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05152" y="1692552"/>
          <a:ext cx="5039995" cy="391885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440180"/>
                <a:gridCol w="3599815"/>
              </a:tblGrid>
              <a:tr h="538804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200">
                          <a:effectLst/>
                        </a:rPr>
                        <a:t>العضو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200" dirty="0">
                          <a:effectLst/>
                        </a:rPr>
                        <a:t>توصيف القسم من المشروع المسؤول عنه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  <a:tr h="56334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100">
                          <a:effectLst/>
                        </a:rPr>
                        <a:t>أسامة أحمد المحمد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Flutter development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  <a:tr h="56334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100">
                          <a:effectLst/>
                        </a:rPr>
                        <a:t>تسنيم عزات مرعي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Flutter development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  <a:tr h="56334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100" dirty="0">
                          <a:effectLst/>
                        </a:rPr>
                        <a:t>عبد الرحمن نبيل دادو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Backend Laravel development-Database Design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  <a:tr h="56334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100">
                          <a:effectLst/>
                        </a:rPr>
                        <a:t>غفران غسان شغري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Flutter development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  <a:tr h="5633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100" dirty="0">
                          <a:effectLst/>
                        </a:rPr>
                        <a:t>مجد عزمات الداخول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Backend Laravel development-Database Design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  <a:tr h="5633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100" dirty="0">
                          <a:effectLst/>
                        </a:rPr>
                        <a:t>ميساء اسماعيل الحاج علي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Flutter development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80" y="2133599"/>
            <a:ext cx="4116073" cy="3264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12025" y="462331"/>
            <a:ext cx="8888362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BH" sz="2800" b="1" dirty="0">
                <a:solidFill>
                  <a:schemeClr val="bg1"/>
                </a:solidFill>
              </a:rPr>
              <a:t>خاتمة</a:t>
            </a:r>
            <a:r>
              <a:rPr lang="ar-SY" sz="2800" b="1" dirty="0">
                <a:solidFill>
                  <a:schemeClr val="bg1"/>
                </a:solidFill>
              </a:rPr>
              <a:t> :</a:t>
            </a:r>
            <a:br>
              <a:rPr lang="ar-BH" sz="2800" dirty="0"/>
            </a:br>
            <a:r>
              <a:rPr lang="ar-BH" sz="2000" dirty="0">
                <a:solidFill>
                  <a:schemeClr val="bg1"/>
                </a:solidFill>
              </a:rPr>
              <a:t>في ختام عرضنا، يمكن القول إن هذا التطبيق يقدم حلاً شاملاً وفعّالاً لإدارة المطاعم،</a:t>
            </a:r>
            <a:endParaRPr lang="ar-SY" sz="20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ar-BH" sz="2000" dirty="0">
                <a:solidFill>
                  <a:schemeClr val="bg1"/>
                </a:solidFill>
              </a:rPr>
              <a:t> حيث يجمع بين سهولة حجز الطاولات، وتنظيم الطلبات الداخلية والخارجية، بالإضافة </a:t>
            </a:r>
            <a:endParaRPr lang="ar-SY" sz="20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ar-BH" sz="2000" dirty="0">
                <a:solidFill>
                  <a:schemeClr val="bg1"/>
                </a:solidFill>
              </a:rPr>
              <a:t>إلى متابعة دقيقة لإدارة المستودع.</a:t>
            </a:r>
            <a:br>
              <a:rPr lang="ar-BH" sz="2000" dirty="0">
                <a:solidFill>
                  <a:schemeClr val="bg1"/>
                </a:solidFill>
              </a:rPr>
            </a:br>
            <a:r>
              <a:rPr lang="ar-BH" sz="2000" dirty="0">
                <a:solidFill>
                  <a:schemeClr val="bg1"/>
                </a:solidFill>
              </a:rPr>
              <a:t>كما أن تكامل النظام بين مختلف أقسام المطعم يسهم في رفع كفاءة العمل</a:t>
            </a:r>
            <a:r>
              <a:rPr lang="ar-SY" sz="2000" dirty="0">
                <a:solidFill>
                  <a:schemeClr val="bg1"/>
                </a:solidFill>
              </a:rPr>
              <a:t> و </a:t>
            </a:r>
            <a:endParaRPr lang="ar-SY" sz="20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ar-BH" sz="2000" dirty="0">
                <a:solidFill>
                  <a:schemeClr val="bg1"/>
                </a:solidFill>
              </a:rPr>
              <a:t> تقليل الأخطاء، وتحسين تجربة الزبائن بشكل عام.</a:t>
            </a:r>
            <a:br>
              <a:rPr lang="ar-BH" sz="2000" dirty="0">
                <a:solidFill>
                  <a:schemeClr val="bg1"/>
                </a:solidFill>
              </a:rPr>
            </a:br>
            <a:r>
              <a:rPr lang="ar-BH" sz="2000" dirty="0">
                <a:solidFill>
                  <a:schemeClr val="bg1"/>
                </a:solidFill>
              </a:rPr>
              <a:t>نؤمن بأن هذا النوع من الحلول التقنية أصبح ضرورة في بيئة العمل الحديثة، </a:t>
            </a:r>
            <a:endParaRPr lang="ar-SY" sz="20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ar-BH" sz="2000" dirty="0">
                <a:solidFill>
                  <a:schemeClr val="bg1"/>
                </a:solidFill>
              </a:rPr>
              <a:t>لما يوفّره من تنظيم ومرونة وسرعة في الأداء.</a:t>
            </a:r>
            <a:br>
              <a:rPr lang="ar-BH" sz="2000" dirty="0">
                <a:solidFill>
                  <a:schemeClr val="bg1"/>
                </a:solidFill>
              </a:rPr>
            </a:br>
            <a:endParaRPr lang="ar-SY" sz="2800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74" y="953729"/>
            <a:ext cx="3846871" cy="3834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a*1_1_1"/>
  <p:tag name="KSO_WM_TEMPLATE_CATEGORY" val="diagram"/>
  <p:tag name="KSO_WM_TEMPLATE_INDEX" val="20238180"/>
  <p:tag name="KSO_WM_UNIT_LAYERLEVEL" val="1_1_1"/>
  <p:tag name="KSO_WM_TAG_VERSION" val="3.0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f*1_1_1"/>
  <p:tag name="KSO_WM_TEMPLATE_CATEGORY" val="diagram"/>
  <p:tag name="KSO_WM_TEMPLATE_INDEX" val="20238180"/>
  <p:tag name="KSO_WM_UNIT_LAYERLEVEL" val="1_1_1"/>
  <p:tag name="KSO_WM_TAG_VERSION" val="3.0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1_3"/>
  <p:tag name="KSO_WM_TEMPLATE_CATEGORY" val="diagram"/>
  <p:tag name="KSO_WM_TEMPLATE_INDEX" val="20238180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1_4"/>
  <p:tag name="KSO_WM_TEMPLATE_CATEGORY" val="diagram"/>
  <p:tag name="KSO_WM_TEMPLATE_INDEX" val="20238180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1_1"/>
  <p:tag name="KSO_WM_TEMPLATE_CATEGORY" val="diagram"/>
  <p:tag name="KSO_WM_TEMPLATE_INDEX" val="20238180"/>
  <p:tag name="KSO_WM_UNIT_LAYERLEVEL" val="1_1_1"/>
  <p:tag name="KSO_WM_TAG_VERSION" val="3.0"/>
  <p:tag name="KSO_WM_UNIT_LINE_FORE_SCHEMECOLOR_INDEX" val="5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a*1_2_1"/>
  <p:tag name="KSO_WM_TEMPLATE_CATEGORY" val="diagram"/>
  <p:tag name="KSO_WM_TEMPLATE_INDEX" val="20238180"/>
  <p:tag name="KSO_WM_UNIT_LAYERLEVEL" val="1_1_1"/>
  <p:tag name="KSO_WM_TAG_VERSION" val="3.0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f*1_2_1"/>
  <p:tag name="KSO_WM_TEMPLATE_CATEGORY" val="diagram"/>
  <p:tag name="KSO_WM_TEMPLATE_INDEX" val="20238180"/>
  <p:tag name="KSO_WM_UNIT_LAYERLEVEL" val="1_1_1"/>
  <p:tag name="KSO_WM_TAG_VERSION" val="3.0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2_1"/>
  <p:tag name="KSO_WM_TEMPLATE_CATEGORY" val="diagram"/>
  <p:tag name="KSO_WM_TEMPLATE_INDEX" val="20238180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2_2"/>
  <p:tag name="KSO_WM_TEMPLATE_CATEGORY" val="diagram"/>
  <p:tag name="KSO_WM_TEMPLATE_INDEX" val="20238180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2_3"/>
  <p:tag name="KSO_WM_TEMPLATE_CATEGORY" val="diagram"/>
  <p:tag name="KSO_WM_TEMPLATE_INDEX" val="20238180"/>
  <p:tag name="KSO_WM_UNIT_LAYERLEVEL" val="1_1_1"/>
  <p:tag name="KSO_WM_TAG_VERSION" val="3.0"/>
  <p:tag name="KSO_WM_UNIT_LINE_FORE_SCHEMECOLOR_INDEX" val="5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3_2"/>
  <p:tag name="KSO_WM_TEMPLATE_CATEGORY" val="diagram"/>
  <p:tag name="KSO_WM_TEMPLATE_INDEX" val="20238180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2_4"/>
  <p:tag name="KSO_WM_TEMPLATE_CATEGORY" val="diagram"/>
  <p:tag name="KSO_WM_TEMPLATE_INDEX" val="20238180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1_2"/>
  <p:tag name="KSO_WM_TEMPLATE_CATEGORY" val="diagram"/>
  <p:tag name="KSO_WM_TEMPLATE_INDEX" val="20238180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a*1_3_1"/>
  <p:tag name="KSO_WM_TEMPLATE_CATEGORY" val="diagram"/>
  <p:tag name="KSO_WM_TEMPLATE_INDEX" val="20238180"/>
  <p:tag name="KSO_WM_UNIT_LAYERLEVEL" val="1_1_1"/>
  <p:tag name="KSO_WM_TAG_VERSION" val="3.0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f*1_3_1"/>
  <p:tag name="KSO_WM_TEMPLATE_CATEGORY" val="diagram"/>
  <p:tag name="KSO_WM_TEMPLATE_INDEX" val="20238180"/>
  <p:tag name="KSO_WM_UNIT_LAYERLEVEL" val="1_1_1"/>
  <p:tag name="KSO_WM_TAG_VERSION" val="3.0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3_3"/>
  <p:tag name="KSO_WM_TEMPLATE_CATEGORY" val="diagram"/>
  <p:tag name="KSO_WM_TEMPLATE_INDEX" val="20238180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3_4"/>
  <p:tag name="KSO_WM_TEMPLATE_CATEGORY" val="diagram"/>
  <p:tag name="KSO_WM_TEMPLATE_INDEX" val="20238180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508.2620361328125,&quot;left&quot;:9.475006103515625,&quot;top&quot;:19.49398193359375,&quot;width&quot;:934.19998779296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8180_1*q_h_i*1_3_1"/>
  <p:tag name="KSO_WM_TEMPLATE_CATEGORY" val="diagram"/>
  <p:tag name="KSO_WM_TEMPLATE_INDEX" val="20238180"/>
  <p:tag name="KSO_WM_UNIT_LAYERLEVEL" val="1_1_1"/>
  <p:tag name="KSO_WM_TAG_VERSION" val="3.0"/>
  <p:tag name="KSO_WM_UNIT_LINE_FORE_SCHEMECOLOR_INDEX" val="5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RESOURCE_RECORD_KEY" val="{&quot;70&quot;:[3322461,3314131,3322042,332199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4756</Words>
  <Application>WPS Presentation</Application>
  <PresentationFormat>Widescreen</PresentationFormat>
  <Paragraphs>394</Paragraphs>
  <Slides>34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Calibri Light</vt:lpstr>
      <vt:lpstr>Bahnschrift</vt:lpstr>
      <vt:lpstr>Arial Narrow</vt:lpstr>
      <vt:lpstr>Roboto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majd dakhoul</cp:lastModifiedBy>
  <cp:revision>112</cp:revision>
  <dcterms:created xsi:type="dcterms:W3CDTF">2025-06-03T08:09:00Z</dcterms:created>
  <dcterms:modified xsi:type="dcterms:W3CDTF">2026-08-21T06:50:56Z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9C2A278E505A4D0EAAE824EABD3B6EE7_12</vt:lpwstr>
  </property>
  <property fmtid="{D5CDD505-2E9C-101B-9397-08002B2CF9AE}" pid="3" name="KSOProductBuildVer">
    <vt:lpwstr>1033-12.1.0.28032</vt:lpwstr>
  </property>
</Properties>
</file>